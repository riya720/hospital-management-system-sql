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70" r:id="rId17"/>
    <p:sldId id="271" r:id="rId18"/>
    <p:sldId id="272"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7" autoAdjust="0"/>
    <p:restoredTop sz="94660"/>
  </p:normalViewPr>
  <p:slideViewPr>
    <p:cSldViewPr snapToGrid="0">
      <p:cViewPr varScale="1">
        <p:scale>
          <a:sx n="44" d="100"/>
          <a:sy n="44" d="100"/>
        </p:scale>
        <p:origin x="58" y="4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A692945-F82C-46DE-B2C0-5292D1D3BAFF}" type="datetimeFigureOut">
              <a:rPr lang="en-US" smtClean="0"/>
              <a:t>1/11/2026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362675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692945-F82C-46DE-B2C0-5292D1D3BA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1811554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692945-F82C-46DE-B2C0-5292D1D3BA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3260331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A692945-F82C-46DE-B2C0-5292D1D3BAFF}"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1785717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A692945-F82C-46DE-B2C0-5292D1D3BAFF}" type="datetimeFigureOut">
              <a:rPr lang="en-US" smtClean="0"/>
              <a:t>1/11/2026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1199928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A692945-F82C-46DE-B2C0-5292D1D3BAFF}" type="datetimeFigureOut">
              <a:rPr lang="en-US" smtClean="0"/>
              <a:t>1/11/2026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147534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692945-F82C-46DE-B2C0-5292D1D3BAFF}" type="datetimeFigureOut">
              <a:rPr lang="en-US" smtClean="0"/>
              <a:t>1/11/2026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602008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A692945-F82C-46DE-B2C0-5292D1D3BAFF}"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143581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A692945-F82C-46DE-B2C0-5292D1D3BAFF}"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3244737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A692945-F82C-46DE-B2C0-5292D1D3BAFF}"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277873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692945-F82C-46DE-B2C0-5292D1D3BA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3707153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692945-F82C-46DE-B2C0-5292D1D3BA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224036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692945-F82C-46DE-B2C0-5292D1D3BA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3383419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692945-F82C-46DE-B2C0-5292D1D3BA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23409504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A692945-F82C-46DE-B2C0-5292D1D3BA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38523821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692945-F82C-46DE-B2C0-5292D1D3BA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17079424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692945-F82C-46DE-B2C0-5292D1D3BAFF}"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CD7B3E-5E55-4028-9D28-D1B11E48001B}" type="slidenum">
              <a:rPr lang="en-US" smtClean="0"/>
              <a:t>‹#›</a:t>
            </a:fld>
            <a:endParaRPr lang="en-US"/>
          </a:p>
        </p:txBody>
      </p:sp>
    </p:spTree>
    <p:extLst>
      <p:ext uri="{BB962C8B-B14F-4D97-AF65-F5344CB8AC3E}">
        <p14:creationId xmlns:p14="http://schemas.microsoft.com/office/powerpoint/2010/main" val="1647270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A692945-F82C-46DE-B2C0-5292D1D3BAFF}" type="datetimeFigureOut">
              <a:rPr lang="en-US" smtClean="0"/>
              <a:t>1/11/2026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CD7B3E-5E55-4028-9D28-D1B11E48001B}" type="slidenum">
              <a:rPr lang="en-US" smtClean="0"/>
              <a:t>‹#›</a:t>
            </a:fld>
            <a:endParaRPr lang="en-US"/>
          </a:p>
        </p:txBody>
      </p:sp>
    </p:spTree>
    <p:extLst>
      <p:ext uri="{BB962C8B-B14F-4D97-AF65-F5344CB8AC3E}">
        <p14:creationId xmlns:p14="http://schemas.microsoft.com/office/powerpoint/2010/main" val="20033336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28401" y="844063"/>
            <a:ext cx="8574622" cy="2444260"/>
          </a:xfrm>
        </p:spPr>
        <p:txBody>
          <a:bodyPr>
            <a:normAutofit/>
          </a:bodyPr>
          <a:lstStyle/>
          <a:p>
            <a:r>
              <a:rPr lang="en-US" sz="6600" b="1" dirty="0" smtClean="0"/>
              <a:t>Hospital Management System </a:t>
            </a:r>
            <a:endParaRPr lang="en-US" sz="6600" b="1" dirty="0"/>
          </a:p>
        </p:txBody>
      </p:sp>
      <p:sp>
        <p:nvSpPr>
          <p:cNvPr id="3" name="Subtitle 2"/>
          <p:cNvSpPr>
            <a:spLocks noGrp="1"/>
          </p:cNvSpPr>
          <p:nvPr>
            <p:ph type="subTitle" idx="1"/>
          </p:nvPr>
        </p:nvSpPr>
        <p:spPr>
          <a:xfrm>
            <a:off x="4515378" y="3486314"/>
            <a:ext cx="6987645" cy="1388534"/>
          </a:xfrm>
        </p:spPr>
        <p:txBody>
          <a:bodyPr>
            <a:normAutofit fontScale="92500" lnSpcReduction="20000"/>
          </a:bodyPr>
          <a:lstStyle/>
          <a:p>
            <a:r>
              <a:rPr lang="en-US" sz="4400" dirty="0" smtClean="0"/>
              <a:t>SQL Project</a:t>
            </a:r>
          </a:p>
          <a:p>
            <a:r>
              <a:rPr lang="en-US" sz="4400" dirty="0" smtClean="0"/>
              <a:t>Riya Kumari</a:t>
            </a:r>
            <a:endParaRPr lang="en-US" sz="4400" dirty="0"/>
          </a:p>
        </p:txBody>
      </p:sp>
    </p:spTree>
    <p:extLst>
      <p:ext uri="{BB962C8B-B14F-4D97-AF65-F5344CB8AC3E}">
        <p14:creationId xmlns:p14="http://schemas.microsoft.com/office/powerpoint/2010/main" val="434113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239715"/>
          </a:xfrm>
        </p:spPr>
        <p:txBody>
          <a:bodyPr/>
          <a:lstStyle/>
          <a:p>
            <a:pPr algn="ctr"/>
            <a:r>
              <a:rPr lang="en-US" b="1" dirty="0" smtClean="0"/>
              <a:t>Introduction:</a:t>
            </a:r>
            <a:endParaRPr lang="en-US" b="1" dirty="0"/>
          </a:p>
        </p:txBody>
      </p:sp>
      <p:sp>
        <p:nvSpPr>
          <p:cNvPr id="3" name="Content Placeholder 2"/>
          <p:cNvSpPr>
            <a:spLocks noGrp="1"/>
          </p:cNvSpPr>
          <p:nvPr>
            <p:ph idx="1"/>
          </p:nvPr>
        </p:nvSpPr>
        <p:spPr>
          <a:xfrm>
            <a:off x="1484310" y="2174630"/>
            <a:ext cx="10018713" cy="3124201"/>
          </a:xfrm>
        </p:spPr>
        <p:txBody>
          <a:bodyPr/>
          <a:lstStyle/>
          <a:p>
            <a:r>
              <a:rPr lang="en-US" dirty="0" smtClean="0"/>
              <a:t>The Hospital Management System SQL project is designed to manage and analyze hospital operations using a relational database. This system stores and organizes data related to patients, doctors, appointments, treatments, billing, and payments. Using SQL queries, the project helps convert raw hospital data into meaningful insights that support better decision-making, operational efficiency, and improved patient care.</a:t>
            </a:r>
            <a:endParaRPr lang="en-US" dirty="0"/>
          </a:p>
        </p:txBody>
      </p:sp>
    </p:spTree>
    <p:extLst>
      <p:ext uri="{BB962C8B-B14F-4D97-AF65-F5344CB8AC3E}">
        <p14:creationId xmlns:p14="http://schemas.microsoft.com/office/powerpoint/2010/main" val="3152634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993530"/>
          </a:xfrm>
        </p:spPr>
        <p:txBody>
          <a:bodyPr/>
          <a:lstStyle/>
          <a:p>
            <a:pPr algn="ctr"/>
            <a:r>
              <a:rPr lang="en-US" b="1" dirty="0" smtClean="0"/>
              <a:t>Objectives:</a:t>
            </a:r>
            <a:endParaRPr lang="en-US" b="1" dirty="0"/>
          </a:p>
        </p:txBody>
      </p:sp>
      <p:sp>
        <p:nvSpPr>
          <p:cNvPr id="3" name="Content Placeholder 2"/>
          <p:cNvSpPr>
            <a:spLocks noGrp="1"/>
          </p:cNvSpPr>
          <p:nvPr>
            <p:ph idx="1"/>
          </p:nvPr>
        </p:nvSpPr>
        <p:spPr>
          <a:xfrm>
            <a:off x="1721702" y="2007576"/>
            <a:ext cx="10018713" cy="3124201"/>
          </a:xfrm>
        </p:spPr>
        <p:txBody>
          <a:bodyPr/>
          <a:lstStyle/>
          <a:p>
            <a:r>
              <a:rPr lang="en-US" dirty="0" smtClean="0"/>
              <a:t>To design a structured hospital database using SQL</a:t>
            </a:r>
          </a:p>
          <a:p>
            <a:r>
              <a:rPr lang="en-US" dirty="0" smtClean="0"/>
              <a:t>To store patient, doctor, and appointment records efficiently</a:t>
            </a:r>
          </a:p>
          <a:p>
            <a:r>
              <a:rPr lang="en-US" dirty="0" smtClean="0"/>
              <a:t>To track treatments, billing, and payment details</a:t>
            </a:r>
          </a:p>
          <a:p>
            <a:r>
              <a:rPr lang="en-US" dirty="0" smtClean="0"/>
              <a:t>To perform data analysis using SQL queries</a:t>
            </a:r>
          </a:p>
          <a:p>
            <a:r>
              <a:rPr lang="en-US" dirty="0" smtClean="0"/>
              <a:t>To generate insights for hospital management and planning</a:t>
            </a:r>
          </a:p>
          <a:p>
            <a:r>
              <a:rPr lang="en-US" dirty="0" smtClean="0"/>
              <a:t>To improve accuracy, transparency, and data consistency</a:t>
            </a:r>
            <a:endParaRPr lang="en-US" dirty="0"/>
          </a:p>
        </p:txBody>
      </p:sp>
    </p:spTree>
    <p:extLst>
      <p:ext uri="{BB962C8B-B14F-4D97-AF65-F5344CB8AC3E}">
        <p14:creationId xmlns:p14="http://schemas.microsoft.com/office/powerpoint/2010/main" val="466520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09" y="571500"/>
            <a:ext cx="10018713" cy="1055077"/>
          </a:xfrm>
        </p:spPr>
        <p:txBody>
          <a:bodyPr/>
          <a:lstStyle/>
          <a:p>
            <a:pPr algn="ctr"/>
            <a:r>
              <a:rPr lang="en-US" b="1" dirty="0" smtClean="0"/>
              <a:t>SQL Queries:</a:t>
            </a:r>
            <a:endParaRPr lang="en-US" b="1" dirty="0"/>
          </a:p>
        </p:txBody>
      </p:sp>
      <p:sp>
        <p:nvSpPr>
          <p:cNvPr id="3" name="Content Placeholder 2"/>
          <p:cNvSpPr>
            <a:spLocks noGrp="1"/>
          </p:cNvSpPr>
          <p:nvPr>
            <p:ph idx="1"/>
          </p:nvPr>
        </p:nvSpPr>
        <p:spPr>
          <a:xfrm>
            <a:off x="1484309" y="2074986"/>
            <a:ext cx="10018713" cy="3232638"/>
          </a:xfrm>
        </p:spPr>
        <p:txBody>
          <a:bodyPr>
            <a:normAutofit fontScale="92500" lnSpcReduction="10000"/>
          </a:bodyPr>
          <a:lstStyle/>
          <a:p>
            <a:r>
              <a:rPr lang="en-US" dirty="0" smtClean="0"/>
              <a:t>Create a Hospital Database.</a:t>
            </a:r>
            <a:endParaRPr lang="en-US" dirty="0"/>
          </a:p>
          <a:p>
            <a:pPr marL="0" indent="0">
              <a:buNone/>
            </a:pPr>
            <a:r>
              <a:rPr lang="en-US" b="1" dirty="0" smtClean="0"/>
              <a:t>Query:</a:t>
            </a:r>
          </a:p>
          <a:p>
            <a:pPr marL="0" indent="0">
              <a:buNone/>
            </a:pPr>
            <a:r>
              <a:rPr lang="en-US" dirty="0" smtClean="0"/>
              <a:t>CREATE DATABASE  </a:t>
            </a:r>
            <a:r>
              <a:rPr lang="en-US" dirty="0" err="1" smtClean="0"/>
              <a:t>hospital_db</a:t>
            </a:r>
            <a:r>
              <a:rPr lang="en-US" dirty="0" smtClean="0"/>
              <a:t>;</a:t>
            </a:r>
          </a:p>
          <a:p>
            <a:pPr marL="0" indent="0">
              <a:buNone/>
            </a:pPr>
            <a:r>
              <a:rPr lang="en-US" dirty="0" smtClean="0"/>
              <a:t>USE  </a:t>
            </a:r>
            <a:r>
              <a:rPr lang="en-US" dirty="0" err="1" smtClean="0"/>
              <a:t>hospital_db</a:t>
            </a:r>
            <a:r>
              <a:rPr lang="en-US" dirty="0" smtClean="0"/>
              <a:t>;</a:t>
            </a:r>
          </a:p>
          <a:p>
            <a:pPr marL="0" indent="0">
              <a:buNone/>
            </a:pPr>
            <a:endParaRPr lang="en-US" dirty="0"/>
          </a:p>
          <a:p>
            <a:pPr marL="0" indent="0">
              <a:buNone/>
            </a:pPr>
            <a:r>
              <a:rPr lang="en-US" b="1" dirty="0" smtClean="0"/>
              <a:t>Insight:</a:t>
            </a:r>
            <a:r>
              <a:rPr lang="en-US" dirty="0" smtClean="0"/>
              <a:t/>
            </a:r>
            <a:br>
              <a:rPr lang="en-US" dirty="0" smtClean="0"/>
            </a:br>
            <a:r>
              <a:rPr lang="en-US" dirty="0" smtClean="0"/>
              <a:t>A separate database ensures organized storage and easy management of hospital data.</a:t>
            </a:r>
            <a:endParaRPr lang="en-US" dirty="0"/>
          </a:p>
        </p:txBody>
      </p:sp>
    </p:spTree>
    <p:extLst>
      <p:ext uri="{BB962C8B-B14F-4D97-AF65-F5344CB8AC3E}">
        <p14:creationId xmlns:p14="http://schemas.microsoft.com/office/powerpoint/2010/main" val="3768137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390892"/>
            <a:ext cx="10018713" cy="822446"/>
          </a:xfrm>
        </p:spPr>
        <p:txBody>
          <a:bodyPr/>
          <a:lstStyle/>
          <a:p>
            <a:r>
              <a:rPr lang="en-US" dirty="0" smtClean="0"/>
              <a:t>Create Patients Table:</a:t>
            </a:r>
            <a:endParaRPr lang="en-US" dirty="0"/>
          </a:p>
        </p:txBody>
      </p:sp>
      <p:sp>
        <p:nvSpPr>
          <p:cNvPr id="3" name="Content Placeholder 2"/>
          <p:cNvSpPr>
            <a:spLocks noGrp="1"/>
          </p:cNvSpPr>
          <p:nvPr>
            <p:ph idx="1"/>
          </p:nvPr>
        </p:nvSpPr>
        <p:spPr>
          <a:xfrm>
            <a:off x="1392116" y="1213338"/>
            <a:ext cx="10515600" cy="4647101"/>
          </a:xfrm>
        </p:spPr>
        <p:txBody>
          <a:bodyPr>
            <a:normAutofit lnSpcReduction="10000"/>
          </a:bodyPr>
          <a:lstStyle/>
          <a:p>
            <a:r>
              <a:rPr lang="en-US" b="1" dirty="0" smtClean="0"/>
              <a:t>Query:</a:t>
            </a:r>
            <a:endParaRPr lang="en-US" dirty="0" smtClean="0"/>
          </a:p>
          <a:p>
            <a:pPr marL="0" indent="0">
              <a:buNone/>
            </a:pPr>
            <a:r>
              <a:rPr lang="en-US" sz="2000" dirty="0" smtClean="0"/>
              <a:t>CREATE TABLE Patients (    </a:t>
            </a:r>
          </a:p>
          <a:p>
            <a:pPr marL="0" indent="0">
              <a:buNone/>
            </a:pPr>
            <a:r>
              <a:rPr lang="en-US" sz="2000" dirty="0" err="1" smtClean="0"/>
              <a:t>patient_id</a:t>
            </a:r>
            <a:r>
              <a:rPr lang="en-US" sz="2000" dirty="0" smtClean="0"/>
              <a:t> INT PRIMARY KEY,   </a:t>
            </a:r>
          </a:p>
          <a:p>
            <a:pPr marL="0" indent="0">
              <a:buNone/>
            </a:pPr>
            <a:r>
              <a:rPr lang="en-US" sz="2000" dirty="0" smtClean="0"/>
              <a:t> </a:t>
            </a:r>
            <a:r>
              <a:rPr lang="en-US" sz="2000" dirty="0" err="1" smtClean="0"/>
              <a:t>patient_name</a:t>
            </a:r>
            <a:r>
              <a:rPr lang="en-US" sz="2000" dirty="0" smtClean="0"/>
              <a:t> VARCHAR(100),   </a:t>
            </a:r>
          </a:p>
          <a:p>
            <a:pPr marL="0" indent="0">
              <a:buNone/>
            </a:pPr>
            <a:r>
              <a:rPr lang="en-US" sz="2000" dirty="0" smtClean="0"/>
              <a:t> gender VARCHAR(10),  </a:t>
            </a:r>
          </a:p>
          <a:p>
            <a:pPr marL="0" indent="0">
              <a:buNone/>
            </a:pPr>
            <a:r>
              <a:rPr lang="en-US" sz="2000" dirty="0" smtClean="0"/>
              <a:t>  age INT,  </a:t>
            </a:r>
          </a:p>
          <a:p>
            <a:pPr marL="0" indent="0">
              <a:buNone/>
            </a:pPr>
            <a:r>
              <a:rPr lang="en-US" sz="2000" dirty="0" smtClean="0"/>
              <a:t>  contact VARCHAR(15),  </a:t>
            </a:r>
          </a:p>
          <a:p>
            <a:pPr marL="0" indent="0">
              <a:buNone/>
            </a:pPr>
            <a:r>
              <a:rPr lang="en-US" sz="2000" dirty="0" smtClean="0"/>
              <a:t>  city VARCHAR(50));</a:t>
            </a:r>
          </a:p>
          <a:p>
            <a:pPr marL="0" indent="0">
              <a:buNone/>
            </a:pPr>
            <a:r>
              <a:rPr lang="en-US" sz="2400" b="1" dirty="0" smtClean="0"/>
              <a:t>Insight:</a:t>
            </a:r>
            <a:r>
              <a:rPr lang="en-US" sz="2000" dirty="0" smtClean="0"/>
              <a:t/>
            </a:r>
            <a:br>
              <a:rPr lang="en-US" sz="2000" dirty="0" smtClean="0"/>
            </a:br>
            <a:r>
              <a:rPr lang="en-US" sz="2000" dirty="0" smtClean="0"/>
              <a:t>This table stores complete patient information such as name, gender, age, contact, and city. It acts as the core entity of the hospital database and helps in tracking patient demographics and visit history.</a:t>
            </a:r>
            <a:endParaRPr lang="en-US" sz="2000" dirty="0"/>
          </a:p>
        </p:txBody>
      </p:sp>
      <p:pic>
        <p:nvPicPr>
          <p:cNvPr id="5" name="Picture 4"/>
          <p:cNvPicPr>
            <a:picLocks noChangeAspect="1"/>
          </p:cNvPicPr>
          <p:nvPr/>
        </p:nvPicPr>
        <p:blipFill rotWithShape="1">
          <a:blip r:embed="rId2"/>
          <a:srcRect t="12421"/>
          <a:stretch/>
        </p:blipFill>
        <p:spPr>
          <a:xfrm>
            <a:off x="6493667" y="2771957"/>
            <a:ext cx="3769394" cy="1529862"/>
          </a:xfrm>
          <a:prstGeom prst="rect">
            <a:avLst/>
          </a:prstGeom>
        </p:spPr>
      </p:pic>
    </p:spTree>
    <p:extLst>
      <p:ext uri="{BB962C8B-B14F-4D97-AF65-F5344CB8AC3E}">
        <p14:creationId xmlns:p14="http://schemas.microsoft.com/office/powerpoint/2010/main" val="1595634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64122"/>
            <a:ext cx="10018713" cy="952501"/>
          </a:xfrm>
        </p:spPr>
        <p:txBody>
          <a:bodyPr/>
          <a:lstStyle/>
          <a:p>
            <a:r>
              <a:rPr lang="en-US" dirty="0" smtClean="0"/>
              <a:t>Create Doctors Table:</a:t>
            </a:r>
            <a:endParaRPr lang="en-US" dirty="0"/>
          </a:p>
        </p:txBody>
      </p:sp>
      <p:sp>
        <p:nvSpPr>
          <p:cNvPr id="3" name="Content Placeholder 2"/>
          <p:cNvSpPr>
            <a:spLocks noGrp="1"/>
          </p:cNvSpPr>
          <p:nvPr>
            <p:ph idx="1"/>
          </p:nvPr>
        </p:nvSpPr>
        <p:spPr>
          <a:xfrm>
            <a:off x="1484311" y="1336431"/>
            <a:ext cx="10018713" cy="3821723"/>
          </a:xfrm>
        </p:spPr>
        <p:txBody>
          <a:bodyPr>
            <a:normAutofit fontScale="92500" lnSpcReduction="10000"/>
          </a:bodyPr>
          <a:lstStyle/>
          <a:p>
            <a:r>
              <a:rPr lang="en-US" b="1" dirty="0" smtClean="0"/>
              <a:t>Query:</a:t>
            </a:r>
          </a:p>
          <a:p>
            <a:pPr marL="0" indent="0">
              <a:buNone/>
            </a:pPr>
            <a:r>
              <a:rPr lang="en-US" dirty="0" smtClean="0"/>
              <a:t>CREATE TABLE Doctors (  </a:t>
            </a:r>
          </a:p>
          <a:p>
            <a:pPr marL="0" indent="0">
              <a:buNone/>
            </a:pPr>
            <a:r>
              <a:rPr lang="en-US" dirty="0" smtClean="0"/>
              <a:t> </a:t>
            </a:r>
            <a:r>
              <a:rPr lang="en-US" dirty="0" err="1" smtClean="0"/>
              <a:t>doctor_id</a:t>
            </a:r>
            <a:r>
              <a:rPr lang="en-US" dirty="0" smtClean="0"/>
              <a:t> INT PRIMARY KEY,    </a:t>
            </a:r>
          </a:p>
          <a:p>
            <a:pPr marL="0" indent="0">
              <a:buNone/>
            </a:pPr>
            <a:r>
              <a:rPr lang="en-US" dirty="0" err="1" smtClean="0"/>
              <a:t>doctor_name</a:t>
            </a:r>
            <a:r>
              <a:rPr lang="en-US" dirty="0" smtClean="0"/>
              <a:t> VARCHAR(100),    </a:t>
            </a:r>
          </a:p>
          <a:p>
            <a:pPr marL="0" indent="0">
              <a:buNone/>
            </a:pPr>
            <a:r>
              <a:rPr lang="en-US" dirty="0" smtClean="0"/>
              <a:t>specialization VARCHAR(50),    </a:t>
            </a:r>
          </a:p>
          <a:p>
            <a:pPr marL="0" indent="0">
              <a:buNone/>
            </a:pPr>
            <a:r>
              <a:rPr lang="en-US" dirty="0" err="1" smtClean="0"/>
              <a:t>consultation_fee</a:t>
            </a:r>
            <a:r>
              <a:rPr lang="en-US" dirty="0" smtClean="0"/>
              <a:t> INT);</a:t>
            </a:r>
          </a:p>
          <a:p>
            <a:pPr marL="0" indent="0">
              <a:buNone/>
            </a:pPr>
            <a:r>
              <a:rPr lang="en-US" b="1" dirty="0" smtClean="0"/>
              <a:t>Insight:</a:t>
            </a:r>
            <a:r>
              <a:rPr lang="en-US" dirty="0" smtClean="0"/>
              <a:t/>
            </a:r>
            <a:br>
              <a:rPr lang="en-US" dirty="0" smtClean="0"/>
            </a:br>
            <a:r>
              <a:rPr lang="en-US" dirty="0" smtClean="0"/>
              <a:t>This table maintains doctor details including specialization and consultation fees. It helps in managing doctor availability, department demand, and revenue analysis.</a:t>
            </a:r>
            <a:endParaRPr lang="en-US" dirty="0"/>
          </a:p>
        </p:txBody>
      </p:sp>
      <p:pic>
        <p:nvPicPr>
          <p:cNvPr id="4" name="Picture 3"/>
          <p:cNvPicPr>
            <a:picLocks noChangeAspect="1"/>
          </p:cNvPicPr>
          <p:nvPr/>
        </p:nvPicPr>
        <p:blipFill rotWithShape="1">
          <a:blip r:embed="rId2"/>
          <a:srcRect l="1333" t="18534" r="3621"/>
          <a:stretch/>
        </p:blipFill>
        <p:spPr>
          <a:xfrm>
            <a:off x="6796454" y="2592265"/>
            <a:ext cx="3165232" cy="1310054"/>
          </a:xfrm>
          <a:prstGeom prst="rect">
            <a:avLst/>
          </a:prstGeom>
        </p:spPr>
      </p:pic>
    </p:spTree>
    <p:extLst>
      <p:ext uri="{BB962C8B-B14F-4D97-AF65-F5344CB8AC3E}">
        <p14:creationId xmlns:p14="http://schemas.microsoft.com/office/powerpoint/2010/main" val="3107666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369277"/>
            <a:ext cx="10018713" cy="940777"/>
          </a:xfrm>
        </p:spPr>
        <p:txBody>
          <a:bodyPr/>
          <a:lstStyle/>
          <a:p>
            <a:r>
              <a:rPr lang="en-US" dirty="0" smtClean="0"/>
              <a:t>Create Departments Table:</a:t>
            </a:r>
            <a:endParaRPr lang="en-US" dirty="0"/>
          </a:p>
        </p:txBody>
      </p:sp>
      <p:sp>
        <p:nvSpPr>
          <p:cNvPr id="3" name="Content Placeholder 2"/>
          <p:cNvSpPr>
            <a:spLocks noGrp="1"/>
          </p:cNvSpPr>
          <p:nvPr>
            <p:ph idx="1"/>
          </p:nvPr>
        </p:nvSpPr>
        <p:spPr>
          <a:xfrm>
            <a:off x="1484310" y="1450731"/>
            <a:ext cx="10018713" cy="4229100"/>
          </a:xfrm>
        </p:spPr>
        <p:txBody>
          <a:bodyPr>
            <a:normAutofit/>
          </a:bodyPr>
          <a:lstStyle/>
          <a:p>
            <a:r>
              <a:rPr lang="en-US" b="1" dirty="0" smtClean="0"/>
              <a:t>Query:</a:t>
            </a:r>
          </a:p>
          <a:p>
            <a:pPr marL="0" indent="0">
              <a:buNone/>
            </a:pPr>
            <a:r>
              <a:rPr lang="en-US" dirty="0" smtClean="0"/>
              <a:t>CREATE TABLE Departments (   </a:t>
            </a:r>
          </a:p>
          <a:p>
            <a:pPr marL="0" indent="0">
              <a:buNone/>
            </a:pPr>
            <a:r>
              <a:rPr lang="en-US" dirty="0" smtClean="0"/>
              <a:t> </a:t>
            </a:r>
            <a:r>
              <a:rPr lang="en-US" dirty="0" err="1" smtClean="0"/>
              <a:t>department_id</a:t>
            </a:r>
            <a:r>
              <a:rPr lang="en-US" dirty="0" smtClean="0"/>
              <a:t> INT PRIMARY KEY,   </a:t>
            </a:r>
          </a:p>
          <a:p>
            <a:pPr marL="0" indent="0">
              <a:buNone/>
            </a:pPr>
            <a:r>
              <a:rPr lang="en-US" dirty="0" smtClean="0"/>
              <a:t> </a:t>
            </a:r>
            <a:r>
              <a:rPr lang="en-US" dirty="0" err="1" smtClean="0"/>
              <a:t>department_name</a:t>
            </a:r>
            <a:r>
              <a:rPr lang="en-US" dirty="0" smtClean="0"/>
              <a:t> VARCHAR(50));</a:t>
            </a:r>
          </a:p>
          <a:p>
            <a:pPr marL="0" indent="0">
              <a:buNone/>
            </a:pPr>
            <a:endParaRPr lang="en-US" dirty="0" smtClean="0"/>
          </a:p>
          <a:p>
            <a:pPr marL="0" indent="0">
              <a:buNone/>
            </a:pPr>
            <a:r>
              <a:rPr lang="en-US" b="1" dirty="0" smtClean="0"/>
              <a:t>Insight:</a:t>
            </a:r>
            <a:r>
              <a:rPr lang="en-US" dirty="0" smtClean="0"/>
              <a:t/>
            </a:r>
            <a:br>
              <a:rPr lang="en-US" dirty="0" smtClean="0"/>
            </a:br>
            <a:r>
              <a:rPr lang="en-US" dirty="0" smtClean="0"/>
              <a:t>This table organizes hospital services into departments. It supports better resource planning and department-wise performance analysis.</a:t>
            </a:r>
          </a:p>
          <a:p>
            <a:pPr marL="0" indent="0">
              <a:buNone/>
            </a:pPr>
            <a:endParaRPr lang="en-US" dirty="0"/>
          </a:p>
        </p:txBody>
      </p:sp>
      <p:pic>
        <p:nvPicPr>
          <p:cNvPr id="4" name="Picture 3"/>
          <p:cNvPicPr>
            <a:picLocks noChangeAspect="1"/>
          </p:cNvPicPr>
          <p:nvPr/>
        </p:nvPicPr>
        <p:blipFill rotWithShape="1">
          <a:blip r:embed="rId2"/>
          <a:srcRect t="22187" b="14940"/>
          <a:stretch/>
        </p:blipFill>
        <p:spPr>
          <a:xfrm>
            <a:off x="6836566" y="2258157"/>
            <a:ext cx="3177815" cy="888024"/>
          </a:xfrm>
          <a:prstGeom prst="rect">
            <a:avLst/>
          </a:prstGeom>
        </p:spPr>
      </p:pic>
    </p:spTree>
    <p:extLst>
      <p:ext uri="{BB962C8B-B14F-4D97-AF65-F5344CB8AC3E}">
        <p14:creationId xmlns:p14="http://schemas.microsoft.com/office/powerpoint/2010/main" val="3008029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422032"/>
            <a:ext cx="10018713" cy="958362"/>
          </a:xfrm>
        </p:spPr>
        <p:txBody>
          <a:bodyPr/>
          <a:lstStyle/>
          <a:p>
            <a:r>
              <a:rPr lang="en-US" dirty="0" smtClean="0"/>
              <a:t>Create Appointments Table:</a:t>
            </a:r>
            <a:endParaRPr lang="en-US" dirty="0"/>
          </a:p>
        </p:txBody>
      </p:sp>
      <p:sp>
        <p:nvSpPr>
          <p:cNvPr id="3" name="Content Placeholder 2"/>
          <p:cNvSpPr>
            <a:spLocks noGrp="1"/>
          </p:cNvSpPr>
          <p:nvPr>
            <p:ph idx="1"/>
          </p:nvPr>
        </p:nvSpPr>
        <p:spPr>
          <a:xfrm>
            <a:off x="1484310" y="1521069"/>
            <a:ext cx="10018713" cy="4730262"/>
          </a:xfrm>
        </p:spPr>
        <p:txBody>
          <a:bodyPr>
            <a:normAutofit fontScale="62500" lnSpcReduction="20000"/>
          </a:bodyPr>
          <a:lstStyle/>
          <a:p>
            <a:r>
              <a:rPr lang="en-US" sz="3200" b="1" dirty="0" smtClean="0"/>
              <a:t>Query:</a:t>
            </a:r>
          </a:p>
          <a:p>
            <a:pPr marL="0" indent="0">
              <a:buNone/>
            </a:pPr>
            <a:r>
              <a:rPr lang="en-US" sz="3800" dirty="0" smtClean="0"/>
              <a:t>CREATE TABLE Appointments (    </a:t>
            </a:r>
          </a:p>
          <a:p>
            <a:pPr marL="0" indent="0">
              <a:buNone/>
            </a:pPr>
            <a:r>
              <a:rPr lang="en-US" sz="3800" dirty="0" err="1" smtClean="0"/>
              <a:t>appointment_id</a:t>
            </a:r>
            <a:r>
              <a:rPr lang="en-US" sz="3800" dirty="0" smtClean="0"/>
              <a:t> INT PRIMARY KEY,    </a:t>
            </a:r>
          </a:p>
          <a:p>
            <a:pPr marL="0" indent="0">
              <a:buNone/>
            </a:pPr>
            <a:r>
              <a:rPr lang="en-US" sz="3800" dirty="0" err="1" smtClean="0"/>
              <a:t>patient_id</a:t>
            </a:r>
            <a:r>
              <a:rPr lang="en-US" sz="3800" dirty="0" smtClean="0"/>
              <a:t> INT,    </a:t>
            </a:r>
            <a:r>
              <a:rPr lang="en-US" sz="3800" dirty="0" err="1" smtClean="0"/>
              <a:t>doctor_id</a:t>
            </a:r>
            <a:r>
              <a:rPr lang="en-US" sz="3800" dirty="0" smtClean="0"/>
              <a:t> INT,    </a:t>
            </a:r>
          </a:p>
          <a:p>
            <a:pPr marL="0" indent="0">
              <a:buNone/>
            </a:pPr>
            <a:r>
              <a:rPr lang="en-US" sz="3800" dirty="0" err="1" smtClean="0"/>
              <a:t>appointment_date</a:t>
            </a:r>
            <a:r>
              <a:rPr lang="en-US" sz="3800" dirty="0" smtClean="0"/>
              <a:t> DATE,   </a:t>
            </a:r>
          </a:p>
          <a:p>
            <a:pPr marL="0" indent="0">
              <a:buNone/>
            </a:pPr>
            <a:r>
              <a:rPr lang="en-US" sz="3800" dirty="0" smtClean="0"/>
              <a:t> status VARCHAR(20),    </a:t>
            </a:r>
          </a:p>
          <a:p>
            <a:pPr marL="0" indent="0">
              <a:buNone/>
            </a:pPr>
            <a:r>
              <a:rPr lang="en-US" sz="3800" dirty="0" smtClean="0"/>
              <a:t>FOREIGN KEY (</a:t>
            </a:r>
            <a:r>
              <a:rPr lang="en-US" sz="3800" dirty="0" err="1" smtClean="0"/>
              <a:t>patient_id</a:t>
            </a:r>
            <a:r>
              <a:rPr lang="en-US" sz="3800" dirty="0" smtClean="0"/>
              <a:t>) REFERENCES Patients(</a:t>
            </a:r>
            <a:r>
              <a:rPr lang="en-US" sz="3800" dirty="0" err="1" smtClean="0"/>
              <a:t>patient_id</a:t>
            </a:r>
            <a:r>
              <a:rPr lang="en-US" sz="3800" dirty="0" smtClean="0"/>
              <a:t>),  </a:t>
            </a:r>
          </a:p>
          <a:p>
            <a:pPr marL="0" indent="0">
              <a:buNone/>
            </a:pPr>
            <a:r>
              <a:rPr lang="en-US" sz="3800" dirty="0" smtClean="0"/>
              <a:t>FOREIGN KEY (</a:t>
            </a:r>
            <a:r>
              <a:rPr lang="en-US" sz="3800" dirty="0" err="1" smtClean="0"/>
              <a:t>doctor_id</a:t>
            </a:r>
            <a:r>
              <a:rPr lang="en-US" sz="3800" dirty="0" smtClean="0"/>
              <a:t>) REFERENCES Doctors(</a:t>
            </a:r>
            <a:r>
              <a:rPr lang="en-US" sz="3800" dirty="0" err="1" smtClean="0"/>
              <a:t>doctor_id</a:t>
            </a:r>
            <a:r>
              <a:rPr lang="en-US" sz="3800" dirty="0" smtClean="0"/>
              <a:t>));</a:t>
            </a:r>
          </a:p>
          <a:p>
            <a:pPr marL="0" indent="0">
              <a:buNone/>
            </a:pPr>
            <a:r>
              <a:rPr lang="en-US" sz="3600" b="1" dirty="0" smtClean="0"/>
              <a:t>Insight:</a:t>
            </a:r>
            <a:r>
              <a:rPr lang="en-US" sz="3300" dirty="0" smtClean="0"/>
              <a:t/>
            </a:r>
            <a:br>
              <a:rPr lang="en-US" sz="3300" dirty="0" smtClean="0"/>
            </a:br>
            <a:r>
              <a:rPr lang="en-US" sz="3300" dirty="0" smtClean="0"/>
              <a:t>This table links patients with doctors and records appointment dates and status. It helps monitor doctor workload, patient flow, and pending or completed consultations.</a:t>
            </a:r>
          </a:p>
          <a:p>
            <a:pPr marL="0" indent="0">
              <a:buNone/>
            </a:pPr>
            <a:endParaRPr lang="en-US" sz="2000" dirty="0"/>
          </a:p>
        </p:txBody>
      </p:sp>
      <p:pic>
        <p:nvPicPr>
          <p:cNvPr id="4" name="Picture 3"/>
          <p:cNvPicPr>
            <a:picLocks noChangeAspect="1"/>
          </p:cNvPicPr>
          <p:nvPr/>
        </p:nvPicPr>
        <p:blipFill rotWithShape="1">
          <a:blip r:embed="rId2"/>
          <a:srcRect t="40608"/>
          <a:stretch/>
        </p:blipFill>
        <p:spPr>
          <a:xfrm>
            <a:off x="7132181" y="2514599"/>
            <a:ext cx="3185436" cy="1222131"/>
          </a:xfrm>
          <a:prstGeom prst="rect">
            <a:avLst/>
          </a:prstGeom>
        </p:spPr>
      </p:pic>
    </p:spTree>
    <p:extLst>
      <p:ext uri="{BB962C8B-B14F-4D97-AF65-F5344CB8AC3E}">
        <p14:creationId xmlns:p14="http://schemas.microsoft.com/office/powerpoint/2010/main" val="2597507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325315"/>
            <a:ext cx="10018713" cy="896815"/>
          </a:xfrm>
        </p:spPr>
        <p:txBody>
          <a:bodyPr/>
          <a:lstStyle/>
          <a:p>
            <a:r>
              <a:rPr lang="en-US" dirty="0" smtClean="0"/>
              <a:t>Create Treatments Table:</a:t>
            </a:r>
            <a:endParaRPr lang="en-US" dirty="0"/>
          </a:p>
        </p:txBody>
      </p:sp>
      <p:sp>
        <p:nvSpPr>
          <p:cNvPr id="3" name="Content Placeholder 2"/>
          <p:cNvSpPr>
            <a:spLocks noGrp="1"/>
          </p:cNvSpPr>
          <p:nvPr>
            <p:ph idx="1"/>
          </p:nvPr>
        </p:nvSpPr>
        <p:spPr>
          <a:xfrm>
            <a:off x="1452989" y="1585545"/>
            <a:ext cx="10018713" cy="4683370"/>
          </a:xfrm>
        </p:spPr>
        <p:txBody>
          <a:bodyPr>
            <a:normAutofit/>
          </a:bodyPr>
          <a:lstStyle/>
          <a:p>
            <a:r>
              <a:rPr lang="en-US" b="1" dirty="0" smtClean="0"/>
              <a:t>Query:</a:t>
            </a:r>
          </a:p>
          <a:p>
            <a:pPr marL="0" indent="0">
              <a:buNone/>
            </a:pPr>
            <a:r>
              <a:rPr lang="en-US" sz="2000" dirty="0" smtClean="0"/>
              <a:t>CREATE TABLE Treatments (   </a:t>
            </a:r>
          </a:p>
          <a:p>
            <a:pPr marL="0" indent="0">
              <a:buNone/>
            </a:pPr>
            <a:r>
              <a:rPr lang="en-US" sz="2000" dirty="0" smtClean="0"/>
              <a:t> </a:t>
            </a:r>
            <a:r>
              <a:rPr lang="en-US" sz="2000" dirty="0" err="1" smtClean="0"/>
              <a:t>treatment_id</a:t>
            </a:r>
            <a:r>
              <a:rPr lang="en-US" sz="2000" dirty="0" smtClean="0"/>
              <a:t> INT PRIMARY KEY,    </a:t>
            </a:r>
          </a:p>
          <a:p>
            <a:pPr marL="0" indent="0">
              <a:buNone/>
            </a:pPr>
            <a:r>
              <a:rPr lang="en-US" sz="2000" dirty="0" err="1" smtClean="0"/>
              <a:t>appointment_id</a:t>
            </a:r>
            <a:r>
              <a:rPr lang="en-US" sz="2000" dirty="0" smtClean="0"/>
              <a:t> INT,    </a:t>
            </a:r>
          </a:p>
          <a:p>
            <a:pPr marL="0" indent="0">
              <a:buNone/>
            </a:pPr>
            <a:r>
              <a:rPr lang="en-US" sz="2000" dirty="0" smtClean="0"/>
              <a:t>diagnosis VARCHAR(100),    </a:t>
            </a:r>
          </a:p>
          <a:p>
            <a:pPr marL="0" indent="0">
              <a:buNone/>
            </a:pPr>
            <a:r>
              <a:rPr lang="en-US" sz="2000" dirty="0" err="1" smtClean="0"/>
              <a:t>treatment_cost</a:t>
            </a:r>
            <a:r>
              <a:rPr lang="en-US" sz="2000" dirty="0" smtClean="0"/>
              <a:t> INT,    </a:t>
            </a:r>
          </a:p>
          <a:p>
            <a:pPr marL="0" indent="0">
              <a:buNone/>
            </a:pPr>
            <a:r>
              <a:rPr lang="en-US" sz="2000" dirty="0" smtClean="0"/>
              <a:t>FOREIGN KEY (</a:t>
            </a:r>
            <a:r>
              <a:rPr lang="en-US" sz="2000" dirty="0" err="1" smtClean="0"/>
              <a:t>appointment_id</a:t>
            </a:r>
            <a:r>
              <a:rPr lang="en-US" sz="2000" dirty="0" smtClean="0"/>
              <a:t>) REFERENCES Appointments(</a:t>
            </a:r>
            <a:r>
              <a:rPr lang="en-US" sz="2000" dirty="0" err="1" smtClean="0"/>
              <a:t>appointment_id</a:t>
            </a:r>
            <a:r>
              <a:rPr lang="en-US" sz="2000" dirty="0" smtClean="0"/>
              <a:t>));</a:t>
            </a:r>
            <a:endParaRPr lang="en-US" sz="2000" dirty="0"/>
          </a:p>
          <a:p>
            <a:pPr marL="0" indent="0">
              <a:buNone/>
            </a:pPr>
            <a:r>
              <a:rPr lang="en-US" sz="2400" b="1" dirty="0" smtClean="0"/>
              <a:t>Insight:</a:t>
            </a:r>
            <a:r>
              <a:rPr lang="en-US" sz="2000" dirty="0" smtClean="0"/>
              <a:t/>
            </a:r>
            <a:br>
              <a:rPr lang="en-US" sz="2000" dirty="0" smtClean="0"/>
            </a:br>
            <a:r>
              <a:rPr lang="en-US" sz="2000" dirty="0" smtClean="0"/>
              <a:t>This table stores diagnosis and treatment cost details for completed appointments. It helps analyze common medical conditions and average treatment expenses.</a:t>
            </a:r>
            <a:endParaRPr lang="en-US" sz="2000" dirty="0"/>
          </a:p>
        </p:txBody>
      </p:sp>
      <p:pic>
        <p:nvPicPr>
          <p:cNvPr id="4" name="Picture 3"/>
          <p:cNvPicPr>
            <a:picLocks noChangeAspect="1"/>
          </p:cNvPicPr>
          <p:nvPr/>
        </p:nvPicPr>
        <p:blipFill rotWithShape="1">
          <a:blip r:embed="rId2"/>
          <a:srcRect l="1561" t="16451"/>
          <a:stretch/>
        </p:blipFill>
        <p:spPr>
          <a:xfrm>
            <a:off x="6695888" y="2793023"/>
            <a:ext cx="3367454" cy="1213338"/>
          </a:xfrm>
          <a:prstGeom prst="rect">
            <a:avLst/>
          </a:prstGeom>
        </p:spPr>
      </p:pic>
    </p:spTree>
    <p:extLst>
      <p:ext uri="{BB962C8B-B14F-4D97-AF65-F5344CB8AC3E}">
        <p14:creationId xmlns:p14="http://schemas.microsoft.com/office/powerpoint/2010/main" val="1757501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243594"/>
            <a:ext cx="10018713" cy="808892"/>
          </a:xfrm>
        </p:spPr>
        <p:txBody>
          <a:bodyPr/>
          <a:lstStyle/>
          <a:p>
            <a:r>
              <a:rPr lang="en-US" dirty="0" smtClean="0"/>
              <a:t>Create Bills Table:</a:t>
            </a:r>
            <a:endParaRPr lang="en-US" dirty="0"/>
          </a:p>
        </p:txBody>
      </p:sp>
      <p:sp>
        <p:nvSpPr>
          <p:cNvPr id="3" name="Content Placeholder 2"/>
          <p:cNvSpPr>
            <a:spLocks noGrp="1"/>
          </p:cNvSpPr>
          <p:nvPr>
            <p:ph idx="1"/>
          </p:nvPr>
        </p:nvSpPr>
        <p:spPr>
          <a:xfrm>
            <a:off x="1484310" y="1503485"/>
            <a:ext cx="10018713" cy="4914900"/>
          </a:xfrm>
        </p:spPr>
        <p:txBody>
          <a:bodyPr>
            <a:normAutofit/>
          </a:bodyPr>
          <a:lstStyle/>
          <a:p>
            <a:r>
              <a:rPr lang="en-US" b="1" dirty="0" smtClean="0"/>
              <a:t>Query:</a:t>
            </a:r>
          </a:p>
          <a:p>
            <a:pPr marL="0" indent="0">
              <a:buNone/>
            </a:pPr>
            <a:r>
              <a:rPr lang="en-US" sz="2000" dirty="0" smtClean="0"/>
              <a:t>CREATE TABLE Bills (    </a:t>
            </a:r>
          </a:p>
          <a:p>
            <a:pPr marL="0" indent="0">
              <a:buNone/>
            </a:pPr>
            <a:r>
              <a:rPr lang="en-US" sz="2000" dirty="0" err="1" smtClean="0"/>
              <a:t>bill_id</a:t>
            </a:r>
            <a:r>
              <a:rPr lang="en-US" sz="2000" dirty="0" smtClean="0"/>
              <a:t> INT PRIMARY KEY,   </a:t>
            </a:r>
          </a:p>
          <a:p>
            <a:pPr marL="0" indent="0">
              <a:buNone/>
            </a:pPr>
            <a:r>
              <a:rPr lang="en-US" sz="2000" dirty="0" smtClean="0"/>
              <a:t> </a:t>
            </a:r>
            <a:r>
              <a:rPr lang="en-US" sz="2000" dirty="0" err="1" smtClean="0"/>
              <a:t>patient_id</a:t>
            </a:r>
            <a:r>
              <a:rPr lang="en-US" sz="2000" dirty="0" smtClean="0"/>
              <a:t> INT,   </a:t>
            </a:r>
          </a:p>
          <a:p>
            <a:pPr marL="0" indent="0">
              <a:buNone/>
            </a:pPr>
            <a:r>
              <a:rPr lang="en-US" sz="2000" dirty="0" smtClean="0"/>
              <a:t> </a:t>
            </a:r>
            <a:r>
              <a:rPr lang="en-US" sz="2000" dirty="0" err="1" smtClean="0"/>
              <a:t>total_amount</a:t>
            </a:r>
            <a:r>
              <a:rPr lang="en-US" sz="2000" dirty="0" smtClean="0"/>
              <a:t> INT,  </a:t>
            </a:r>
          </a:p>
          <a:p>
            <a:pPr marL="0" indent="0">
              <a:buNone/>
            </a:pPr>
            <a:r>
              <a:rPr lang="en-US" sz="2000" dirty="0" err="1" smtClean="0"/>
              <a:t>payment_mode</a:t>
            </a:r>
            <a:r>
              <a:rPr lang="en-US" sz="2000" dirty="0" smtClean="0"/>
              <a:t> VARCHAR(20),   </a:t>
            </a:r>
          </a:p>
          <a:p>
            <a:pPr marL="0" indent="0">
              <a:buNone/>
            </a:pPr>
            <a:r>
              <a:rPr lang="en-US" sz="2000" dirty="0" smtClean="0"/>
              <a:t> FOREIGN KEY (</a:t>
            </a:r>
            <a:r>
              <a:rPr lang="en-US" sz="2000" dirty="0" err="1" smtClean="0"/>
              <a:t>patient_id</a:t>
            </a:r>
            <a:r>
              <a:rPr lang="en-US" sz="2000" dirty="0" smtClean="0"/>
              <a:t>) REFERENCES Patients(</a:t>
            </a:r>
            <a:r>
              <a:rPr lang="en-US" sz="2000" dirty="0" err="1" smtClean="0"/>
              <a:t>patient_id</a:t>
            </a:r>
            <a:r>
              <a:rPr lang="en-US" sz="2000" dirty="0" smtClean="0"/>
              <a:t>));</a:t>
            </a:r>
          </a:p>
          <a:p>
            <a:pPr marL="0" indent="0">
              <a:buNone/>
            </a:pPr>
            <a:endParaRPr lang="en-US" sz="2000" dirty="0"/>
          </a:p>
          <a:p>
            <a:pPr marL="0" indent="0">
              <a:buNone/>
            </a:pPr>
            <a:r>
              <a:rPr lang="en-US" sz="2400" b="1" dirty="0" smtClean="0"/>
              <a:t>Insight:</a:t>
            </a:r>
            <a:r>
              <a:rPr lang="en-US" sz="2000" dirty="0" smtClean="0"/>
              <a:t/>
            </a:r>
            <a:br>
              <a:rPr lang="en-US" sz="2000" dirty="0" smtClean="0"/>
            </a:br>
            <a:r>
              <a:rPr lang="en-US" sz="2000" dirty="0" smtClean="0"/>
              <a:t>This table records billing details for patients after treatment. It supports financial tracking, revenue calculation, and payment mode analysis.</a:t>
            </a:r>
          </a:p>
          <a:p>
            <a:pPr marL="0" indent="0">
              <a:buNone/>
            </a:pPr>
            <a:endParaRPr lang="en-US" sz="2000" dirty="0"/>
          </a:p>
        </p:txBody>
      </p:sp>
      <p:pic>
        <p:nvPicPr>
          <p:cNvPr id="4" name="Picture 3"/>
          <p:cNvPicPr>
            <a:picLocks noChangeAspect="1"/>
          </p:cNvPicPr>
          <p:nvPr/>
        </p:nvPicPr>
        <p:blipFill rotWithShape="1">
          <a:blip r:embed="rId2"/>
          <a:srcRect l="1688" t="16314"/>
          <a:stretch/>
        </p:blipFill>
        <p:spPr>
          <a:xfrm>
            <a:off x="6040316" y="2198078"/>
            <a:ext cx="3437792" cy="1186960"/>
          </a:xfrm>
          <a:prstGeom prst="rect">
            <a:avLst/>
          </a:prstGeom>
        </p:spPr>
      </p:pic>
    </p:spTree>
    <p:extLst>
      <p:ext uri="{BB962C8B-B14F-4D97-AF65-F5344CB8AC3E}">
        <p14:creationId xmlns:p14="http://schemas.microsoft.com/office/powerpoint/2010/main" val="572231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460130"/>
            <a:ext cx="10018713" cy="967154"/>
          </a:xfrm>
        </p:spPr>
        <p:txBody>
          <a:bodyPr/>
          <a:lstStyle/>
          <a:p>
            <a:r>
              <a:rPr lang="en-US" dirty="0" smtClean="0"/>
              <a:t>Create Table Payments:</a:t>
            </a:r>
            <a:endParaRPr lang="en-US" dirty="0"/>
          </a:p>
        </p:txBody>
      </p:sp>
      <p:sp>
        <p:nvSpPr>
          <p:cNvPr id="3" name="Content Placeholder 2"/>
          <p:cNvSpPr>
            <a:spLocks noGrp="1"/>
          </p:cNvSpPr>
          <p:nvPr>
            <p:ph idx="1"/>
          </p:nvPr>
        </p:nvSpPr>
        <p:spPr>
          <a:xfrm>
            <a:off x="1484310" y="1776047"/>
            <a:ext cx="10018713" cy="4360984"/>
          </a:xfrm>
        </p:spPr>
        <p:txBody>
          <a:bodyPr>
            <a:normAutofit fontScale="25000" lnSpcReduction="20000"/>
          </a:bodyPr>
          <a:lstStyle/>
          <a:p>
            <a:r>
              <a:rPr lang="en-US" sz="7200" b="1" dirty="0" smtClean="0"/>
              <a:t>Query:</a:t>
            </a:r>
          </a:p>
          <a:p>
            <a:pPr marL="0" indent="0">
              <a:buNone/>
            </a:pPr>
            <a:r>
              <a:rPr lang="en-US" sz="7200" dirty="0" smtClean="0"/>
              <a:t>CREATE TABLE Payments (    </a:t>
            </a:r>
          </a:p>
          <a:p>
            <a:pPr marL="0" indent="0">
              <a:buNone/>
            </a:pPr>
            <a:r>
              <a:rPr lang="en-US" sz="7200" dirty="0" err="1" smtClean="0"/>
              <a:t>payment_id</a:t>
            </a:r>
            <a:r>
              <a:rPr lang="en-US" sz="7200" dirty="0" smtClean="0"/>
              <a:t> INT PRIMARY KEY,   </a:t>
            </a:r>
          </a:p>
          <a:p>
            <a:pPr marL="0" indent="0">
              <a:buNone/>
            </a:pPr>
            <a:r>
              <a:rPr lang="en-US" sz="7200" dirty="0" err="1" smtClean="0"/>
              <a:t>bill_id</a:t>
            </a:r>
            <a:r>
              <a:rPr lang="en-US" sz="7200" dirty="0" smtClean="0"/>
              <a:t> INT,    </a:t>
            </a:r>
          </a:p>
          <a:p>
            <a:pPr marL="0" indent="0">
              <a:buNone/>
            </a:pPr>
            <a:r>
              <a:rPr lang="en-US" sz="7200" dirty="0" err="1" smtClean="0"/>
              <a:t>payment_date</a:t>
            </a:r>
            <a:r>
              <a:rPr lang="en-US" sz="7200" dirty="0" smtClean="0"/>
              <a:t> DATE,    </a:t>
            </a:r>
          </a:p>
          <a:p>
            <a:pPr marL="0" indent="0">
              <a:buNone/>
            </a:pPr>
            <a:r>
              <a:rPr lang="en-US" sz="7200" dirty="0" smtClean="0"/>
              <a:t>amount INT,    </a:t>
            </a:r>
          </a:p>
          <a:p>
            <a:pPr marL="0" indent="0">
              <a:buNone/>
            </a:pPr>
            <a:r>
              <a:rPr lang="en-US" sz="7200" dirty="0" err="1" smtClean="0"/>
              <a:t>payment_status</a:t>
            </a:r>
            <a:r>
              <a:rPr lang="en-US" sz="7200" dirty="0" smtClean="0"/>
              <a:t> VARCHAR(20),    </a:t>
            </a:r>
          </a:p>
          <a:p>
            <a:pPr marL="0" indent="0">
              <a:buNone/>
            </a:pPr>
            <a:r>
              <a:rPr lang="en-US" sz="7200" dirty="0" smtClean="0"/>
              <a:t>FOREIGN KEY (</a:t>
            </a:r>
            <a:r>
              <a:rPr lang="en-US" sz="7200" dirty="0" err="1" smtClean="0"/>
              <a:t>bill_id</a:t>
            </a:r>
            <a:r>
              <a:rPr lang="en-US" sz="7200" dirty="0" smtClean="0"/>
              <a:t>) REFERENCES Bills(</a:t>
            </a:r>
            <a:r>
              <a:rPr lang="en-US" sz="7200" dirty="0" err="1" smtClean="0"/>
              <a:t>bill_id</a:t>
            </a:r>
            <a:r>
              <a:rPr lang="en-US" sz="7200" dirty="0" smtClean="0"/>
              <a:t>));</a:t>
            </a:r>
          </a:p>
          <a:p>
            <a:pPr marL="0" indent="0">
              <a:buNone/>
            </a:pPr>
            <a:endParaRPr lang="en-US" sz="7200" dirty="0"/>
          </a:p>
          <a:p>
            <a:pPr marL="0" indent="0">
              <a:buNone/>
            </a:pPr>
            <a:r>
              <a:rPr lang="en-US" sz="7200" b="1" dirty="0" smtClean="0"/>
              <a:t>Insight:</a:t>
            </a:r>
            <a:r>
              <a:rPr lang="en-US" sz="7200" dirty="0" smtClean="0"/>
              <a:t/>
            </a:r>
            <a:br>
              <a:rPr lang="en-US" sz="7200" dirty="0" smtClean="0"/>
            </a:br>
            <a:r>
              <a:rPr lang="en-US" sz="7200" dirty="0" smtClean="0"/>
              <a:t>This table captures payment transactions related to hospital bills. It ensures payment traceability and helps analyze revenue flow and payment status.</a:t>
            </a:r>
          </a:p>
          <a:p>
            <a:pPr marL="0" indent="0">
              <a:buNone/>
            </a:pPr>
            <a:endParaRPr lang="en-US" sz="2000" dirty="0"/>
          </a:p>
        </p:txBody>
      </p:sp>
      <p:pic>
        <p:nvPicPr>
          <p:cNvPr id="4" name="Picture 3"/>
          <p:cNvPicPr>
            <a:picLocks noChangeAspect="1"/>
          </p:cNvPicPr>
          <p:nvPr/>
        </p:nvPicPr>
        <p:blipFill rotWithShape="1">
          <a:blip r:embed="rId2"/>
          <a:srcRect l="1880" t="17140"/>
          <a:stretch/>
        </p:blipFill>
        <p:spPr>
          <a:xfrm>
            <a:off x="6726115" y="2488223"/>
            <a:ext cx="3472962" cy="1433146"/>
          </a:xfrm>
          <a:prstGeom prst="rect">
            <a:avLst/>
          </a:prstGeom>
        </p:spPr>
      </p:pic>
    </p:spTree>
    <p:extLst>
      <p:ext uri="{BB962C8B-B14F-4D97-AF65-F5344CB8AC3E}">
        <p14:creationId xmlns:p14="http://schemas.microsoft.com/office/powerpoint/2010/main" val="742157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432365"/>
            <a:ext cx="10018713" cy="879231"/>
          </a:xfrm>
        </p:spPr>
        <p:txBody>
          <a:bodyPr/>
          <a:lstStyle/>
          <a:p>
            <a:r>
              <a:rPr lang="en-US" dirty="0" smtClean="0"/>
              <a:t>Insert Into Patients:</a:t>
            </a:r>
            <a:endParaRPr lang="en-US" dirty="0"/>
          </a:p>
        </p:txBody>
      </p:sp>
      <p:sp>
        <p:nvSpPr>
          <p:cNvPr id="3" name="Content Placeholder 2"/>
          <p:cNvSpPr>
            <a:spLocks noGrp="1"/>
          </p:cNvSpPr>
          <p:nvPr>
            <p:ph idx="1"/>
          </p:nvPr>
        </p:nvSpPr>
        <p:spPr>
          <a:xfrm>
            <a:off x="1484310" y="1591407"/>
            <a:ext cx="10018713" cy="4322885"/>
          </a:xfrm>
        </p:spPr>
        <p:txBody>
          <a:bodyPr>
            <a:noAutofit/>
          </a:bodyPr>
          <a:lstStyle/>
          <a:p>
            <a:r>
              <a:rPr lang="en-US" sz="1800" b="1" dirty="0" smtClean="0"/>
              <a:t>Query:</a:t>
            </a:r>
          </a:p>
          <a:p>
            <a:pPr marL="0" indent="0">
              <a:buNone/>
            </a:pPr>
            <a:r>
              <a:rPr lang="en-US" sz="1800" dirty="0" smtClean="0"/>
              <a:t>INSERT INTO Patients VALUES</a:t>
            </a:r>
          </a:p>
          <a:p>
            <a:pPr marL="0" indent="0">
              <a:buNone/>
            </a:pPr>
            <a:r>
              <a:rPr lang="en-US" sz="1800" dirty="0" smtClean="0"/>
              <a:t>(1,'Amit Sharma','Male',35,'9876543210','Delhi'),</a:t>
            </a:r>
          </a:p>
          <a:p>
            <a:pPr marL="0" indent="0">
              <a:buNone/>
            </a:pPr>
            <a:r>
              <a:rPr lang="en-US" sz="1800" dirty="0" smtClean="0"/>
              <a:t>(2,'Riya Verma','Female',28,'9123456780','Mumbai'),</a:t>
            </a:r>
          </a:p>
          <a:p>
            <a:pPr marL="0" indent="0">
              <a:buNone/>
            </a:pPr>
            <a:r>
              <a:rPr lang="en-US" sz="1800" dirty="0" smtClean="0"/>
              <a:t>(3,'Neha Singh','Female',42,'9988776655','Patna'),</a:t>
            </a:r>
          </a:p>
          <a:p>
            <a:pPr marL="0" indent="0">
              <a:buNone/>
            </a:pPr>
            <a:r>
              <a:rPr lang="en-US" sz="1800" dirty="0" smtClean="0"/>
              <a:t>(4,'Rohit Kumar','Male',55,'9876501234','Kolkata'),</a:t>
            </a:r>
          </a:p>
          <a:p>
            <a:pPr marL="0" indent="0">
              <a:buNone/>
            </a:pPr>
            <a:r>
              <a:rPr lang="en-US" sz="1800" dirty="0" smtClean="0"/>
              <a:t>(5,'Pooja Mishra','Female',31,'9001122334','Lucknow'),</a:t>
            </a:r>
          </a:p>
          <a:p>
            <a:pPr marL="0" indent="0">
              <a:buNone/>
            </a:pPr>
            <a:r>
              <a:rPr lang="en-US" sz="1800" dirty="0" smtClean="0"/>
              <a:t>(6,'Ankit Gupta','Male',23,'9112233445','Delhi'),</a:t>
            </a:r>
          </a:p>
          <a:p>
            <a:pPr marL="0" indent="0">
              <a:buNone/>
            </a:pPr>
            <a:endParaRPr lang="en-US" sz="1800" dirty="0" smtClean="0"/>
          </a:p>
          <a:p>
            <a:pPr marL="0" indent="0">
              <a:buNone/>
            </a:pPr>
            <a:r>
              <a:rPr lang="en-US" sz="1800" b="1" dirty="0" smtClean="0"/>
              <a:t>Insight:</a:t>
            </a:r>
            <a:r>
              <a:rPr lang="en-US" sz="1800" dirty="0" smtClean="0"/>
              <a:t/>
            </a:r>
            <a:br>
              <a:rPr lang="en-US" sz="1800" dirty="0" smtClean="0"/>
            </a:br>
            <a:r>
              <a:rPr lang="en-US" sz="1800" dirty="0" smtClean="0"/>
              <a:t>This query populates the database with patient demographic data required for identification and analysis.</a:t>
            </a:r>
            <a:endParaRPr lang="en-US" sz="1800" dirty="0"/>
          </a:p>
        </p:txBody>
      </p:sp>
      <p:pic>
        <p:nvPicPr>
          <p:cNvPr id="4" name="Picture 3"/>
          <p:cNvPicPr>
            <a:picLocks noChangeAspect="1"/>
          </p:cNvPicPr>
          <p:nvPr/>
        </p:nvPicPr>
        <p:blipFill rotWithShape="1">
          <a:blip r:embed="rId2"/>
          <a:srcRect t="9742"/>
          <a:stretch/>
        </p:blipFill>
        <p:spPr>
          <a:xfrm>
            <a:off x="7196632" y="2646484"/>
            <a:ext cx="3795089" cy="1616396"/>
          </a:xfrm>
          <a:prstGeom prst="rect">
            <a:avLst/>
          </a:prstGeom>
        </p:spPr>
      </p:pic>
    </p:spTree>
    <p:extLst>
      <p:ext uri="{BB962C8B-B14F-4D97-AF65-F5344CB8AC3E}">
        <p14:creationId xmlns:p14="http://schemas.microsoft.com/office/powerpoint/2010/main" val="1722103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386863"/>
            <a:ext cx="10018713" cy="808892"/>
          </a:xfrm>
        </p:spPr>
        <p:txBody>
          <a:bodyPr/>
          <a:lstStyle/>
          <a:p>
            <a:r>
              <a:rPr lang="en-US" dirty="0" smtClean="0"/>
              <a:t>Insert into Doctors:</a:t>
            </a:r>
            <a:endParaRPr lang="en-US" dirty="0"/>
          </a:p>
        </p:txBody>
      </p:sp>
      <p:sp>
        <p:nvSpPr>
          <p:cNvPr id="3" name="Content Placeholder 2"/>
          <p:cNvSpPr>
            <a:spLocks noGrp="1"/>
          </p:cNvSpPr>
          <p:nvPr>
            <p:ph idx="1"/>
          </p:nvPr>
        </p:nvSpPr>
        <p:spPr>
          <a:xfrm>
            <a:off x="1484310" y="1547447"/>
            <a:ext cx="10018713" cy="4243754"/>
          </a:xfrm>
        </p:spPr>
        <p:txBody>
          <a:bodyPr>
            <a:normAutofit fontScale="77500" lnSpcReduction="20000"/>
          </a:bodyPr>
          <a:lstStyle/>
          <a:p>
            <a:r>
              <a:rPr lang="en-US" sz="2600" b="1" dirty="0" smtClean="0"/>
              <a:t>Query:</a:t>
            </a:r>
          </a:p>
          <a:p>
            <a:pPr marL="0" indent="0">
              <a:buNone/>
            </a:pPr>
            <a:r>
              <a:rPr lang="en-US" sz="2600" dirty="0" smtClean="0"/>
              <a:t>INSERT INTO Doctors VALUES(</a:t>
            </a:r>
          </a:p>
          <a:p>
            <a:pPr marL="0" indent="0">
              <a:buNone/>
            </a:pPr>
            <a:r>
              <a:rPr lang="en-US" sz="2600" dirty="0" smtClean="0"/>
              <a:t>101,'Dr Mehta','Cardiology',800),</a:t>
            </a:r>
          </a:p>
          <a:p>
            <a:pPr marL="0" indent="0">
              <a:buNone/>
            </a:pPr>
            <a:r>
              <a:rPr lang="en-US" sz="2600" dirty="0" smtClean="0"/>
              <a:t>(102,'Dr Khan','Orthopedic',600),</a:t>
            </a:r>
          </a:p>
          <a:p>
            <a:pPr marL="0" indent="0">
              <a:buNone/>
            </a:pPr>
            <a:r>
              <a:rPr lang="en-US" sz="2600" dirty="0" smtClean="0"/>
              <a:t>(103,'Dr Rao','Neurology',1000),</a:t>
            </a:r>
          </a:p>
          <a:p>
            <a:pPr marL="0" indent="0">
              <a:buNone/>
            </a:pPr>
            <a:r>
              <a:rPr lang="en-US" sz="2600" dirty="0" smtClean="0"/>
              <a:t>(104,'Dr </a:t>
            </a:r>
            <a:r>
              <a:rPr lang="en-US" sz="2600" dirty="0" err="1" smtClean="0"/>
              <a:t>Singh','General</a:t>
            </a:r>
            <a:r>
              <a:rPr lang="en-US" sz="2600" dirty="0" smtClean="0"/>
              <a:t> Physician',400),</a:t>
            </a:r>
          </a:p>
          <a:p>
            <a:pPr marL="0" indent="0">
              <a:buNone/>
            </a:pPr>
            <a:r>
              <a:rPr lang="en-US" sz="2600" dirty="0" smtClean="0"/>
              <a:t>(105,'Dr Verma','Dermatology',500);</a:t>
            </a:r>
          </a:p>
          <a:p>
            <a:pPr marL="0" indent="0">
              <a:buNone/>
            </a:pPr>
            <a:r>
              <a:rPr lang="en-US" sz="2600" dirty="0" smtClean="0"/>
              <a:t>SELECT * FROM Doctors;</a:t>
            </a:r>
          </a:p>
          <a:p>
            <a:pPr marL="0" indent="0">
              <a:buNone/>
            </a:pPr>
            <a:endParaRPr lang="en-US" sz="2600" dirty="0" smtClean="0"/>
          </a:p>
          <a:p>
            <a:r>
              <a:rPr lang="en-US" sz="2600" b="1" dirty="0" smtClean="0"/>
              <a:t>Insight:</a:t>
            </a:r>
            <a:r>
              <a:rPr lang="en-US" sz="2600" dirty="0" smtClean="0"/>
              <a:t/>
            </a:r>
            <a:br>
              <a:rPr lang="en-US" sz="2600" dirty="0" smtClean="0"/>
            </a:br>
            <a:r>
              <a:rPr lang="en-US" sz="2600" dirty="0" smtClean="0"/>
              <a:t>This query stores doctor details, enabling specialization-wise and revenue-based analysis.</a:t>
            </a:r>
          </a:p>
          <a:p>
            <a:endParaRPr lang="en-US" dirty="0"/>
          </a:p>
        </p:txBody>
      </p:sp>
      <p:pic>
        <p:nvPicPr>
          <p:cNvPr id="4" name="Picture 3"/>
          <p:cNvPicPr>
            <a:picLocks noChangeAspect="1"/>
          </p:cNvPicPr>
          <p:nvPr/>
        </p:nvPicPr>
        <p:blipFill rotWithShape="1">
          <a:blip r:embed="rId2"/>
          <a:srcRect t="3698" r="2760"/>
          <a:stretch/>
        </p:blipFill>
        <p:spPr>
          <a:xfrm>
            <a:off x="7186383" y="2457108"/>
            <a:ext cx="3505063" cy="1396854"/>
          </a:xfrm>
          <a:prstGeom prst="rect">
            <a:avLst/>
          </a:prstGeom>
        </p:spPr>
      </p:pic>
    </p:spTree>
    <p:extLst>
      <p:ext uri="{BB962C8B-B14F-4D97-AF65-F5344CB8AC3E}">
        <p14:creationId xmlns:p14="http://schemas.microsoft.com/office/powerpoint/2010/main" val="747237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404447"/>
            <a:ext cx="10018713" cy="756137"/>
          </a:xfrm>
        </p:spPr>
        <p:txBody>
          <a:bodyPr/>
          <a:lstStyle/>
          <a:p>
            <a:r>
              <a:rPr lang="en-US" dirty="0" smtClean="0"/>
              <a:t>Insert into Departments: </a:t>
            </a:r>
            <a:endParaRPr lang="en-US" dirty="0"/>
          </a:p>
        </p:txBody>
      </p:sp>
      <p:sp>
        <p:nvSpPr>
          <p:cNvPr id="3" name="Content Placeholder 2"/>
          <p:cNvSpPr>
            <a:spLocks noGrp="1"/>
          </p:cNvSpPr>
          <p:nvPr>
            <p:ph idx="1"/>
          </p:nvPr>
        </p:nvSpPr>
        <p:spPr>
          <a:xfrm>
            <a:off x="1484310" y="1705709"/>
            <a:ext cx="10018713" cy="4085492"/>
          </a:xfrm>
        </p:spPr>
        <p:txBody>
          <a:bodyPr>
            <a:normAutofit fontScale="85000" lnSpcReduction="10000"/>
          </a:bodyPr>
          <a:lstStyle/>
          <a:p>
            <a:r>
              <a:rPr lang="en-US" b="1" dirty="0" smtClean="0"/>
              <a:t>Query:</a:t>
            </a:r>
            <a:endParaRPr lang="en-US" b="1" dirty="0"/>
          </a:p>
          <a:p>
            <a:pPr marL="0" indent="0">
              <a:buNone/>
            </a:pPr>
            <a:r>
              <a:rPr lang="en-US" sz="2000" dirty="0" smtClean="0"/>
              <a:t>INSERT INTO Departments VALUES</a:t>
            </a:r>
          </a:p>
          <a:p>
            <a:pPr marL="0" indent="0">
              <a:buNone/>
            </a:pPr>
            <a:r>
              <a:rPr lang="en-US" sz="2000" dirty="0" smtClean="0"/>
              <a:t>(1,'Cardiology'),</a:t>
            </a:r>
          </a:p>
          <a:p>
            <a:pPr marL="0" indent="0">
              <a:buNone/>
            </a:pPr>
            <a:r>
              <a:rPr lang="en-US" sz="2000" dirty="0" smtClean="0"/>
              <a:t>(2,'Orthopedic'),</a:t>
            </a:r>
          </a:p>
          <a:p>
            <a:pPr marL="0" indent="0">
              <a:buNone/>
            </a:pPr>
            <a:r>
              <a:rPr lang="en-US" sz="2000" dirty="0" smtClean="0"/>
              <a:t>(3,'Neurology'),</a:t>
            </a:r>
          </a:p>
          <a:p>
            <a:pPr marL="0" indent="0">
              <a:buNone/>
            </a:pPr>
            <a:r>
              <a:rPr lang="en-US" sz="2000" dirty="0" smtClean="0"/>
              <a:t>(4,'General Medicine'),</a:t>
            </a:r>
          </a:p>
          <a:p>
            <a:pPr marL="0" indent="0">
              <a:buNone/>
            </a:pPr>
            <a:r>
              <a:rPr lang="en-US" sz="2000" dirty="0" smtClean="0"/>
              <a:t>(5,'Dermatology');</a:t>
            </a:r>
          </a:p>
          <a:p>
            <a:pPr marL="0" indent="0">
              <a:buNone/>
            </a:pPr>
            <a:r>
              <a:rPr lang="en-US" sz="2000" dirty="0" smtClean="0"/>
              <a:t>SELECT * FROM Departments;</a:t>
            </a:r>
          </a:p>
          <a:p>
            <a:pPr marL="0" indent="0">
              <a:buNone/>
            </a:pPr>
            <a:endParaRPr lang="en-US" sz="2000" dirty="0" smtClean="0"/>
          </a:p>
          <a:p>
            <a:pPr marL="0" indent="0">
              <a:buNone/>
            </a:pPr>
            <a:r>
              <a:rPr lang="en-US" sz="2400" b="1" dirty="0" smtClean="0"/>
              <a:t>Insight:</a:t>
            </a:r>
            <a:r>
              <a:rPr lang="en-US" sz="2000" dirty="0" smtClean="0"/>
              <a:t/>
            </a:r>
            <a:br>
              <a:rPr lang="en-US" sz="2000" dirty="0" smtClean="0"/>
            </a:br>
            <a:r>
              <a:rPr lang="en-US" sz="2000" dirty="0" smtClean="0"/>
              <a:t>This query defines hospital departments to organize services and support department-level reporting.</a:t>
            </a:r>
          </a:p>
        </p:txBody>
      </p:sp>
      <p:pic>
        <p:nvPicPr>
          <p:cNvPr id="4" name="Picture 3"/>
          <p:cNvPicPr>
            <a:picLocks noChangeAspect="1"/>
          </p:cNvPicPr>
          <p:nvPr/>
        </p:nvPicPr>
        <p:blipFill>
          <a:blip r:embed="rId2"/>
          <a:stretch>
            <a:fillRect/>
          </a:stretch>
        </p:blipFill>
        <p:spPr>
          <a:xfrm>
            <a:off x="6825967" y="2606732"/>
            <a:ext cx="3135717" cy="1358598"/>
          </a:xfrm>
          <a:prstGeom prst="rect">
            <a:avLst/>
          </a:prstGeom>
        </p:spPr>
      </p:pic>
    </p:spTree>
    <p:extLst>
      <p:ext uri="{BB962C8B-B14F-4D97-AF65-F5344CB8AC3E}">
        <p14:creationId xmlns:p14="http://schemas.microsoft.com/office/powerpoint/2010/main" val="2067001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505550"/>
            <a:ext cx="10018713" cy="720969"/>
          </a:xfrm>
        </p:spPr>
        <p:txBody>
          <a:bodyPr/>
          <a:lstStyle/>
          <a:p>
            <a:r>
              <a:rPr lang="en-US" dirty="0" smtClean="0"/>
              <a:t>Insert into Appointments:</a:t>
            </a:r>
            <a:endParaRPr lang="en-US" dirty="0"/>
          </a:p>
        </p:txBody>
      </p:sp>
      <p:sp>
        <p:nvSpPr>
          <p:cNvPr id="3" name="Content Placeholder 2"/>
          <p:cNvSpPr>
            <a:spLocks noGrp="1"/>
          </p:cNvSpPr>
          <p:nvPr>
            <p:ph idx="1"/>
          </p:nvPr>
        </p:nvSpPr>
        <p:spPr>
          <a:xfrm>
            <a:off x="1484310" y="1608992"/>
            <a:ext cx="10018713" cy="4278923"/>
          </a:xfrm>
        </p:spPr>
        <p:txBody>
          <a:bodyPr>
            <a:noAutofit/>
          </a:bodyPr>
          <a:lstStyle/>
          <a:p>
            <a:r>
              <a:rPr lang="en-US" sz="1600" b="1" dirty="0" smtClean="0"/>
              <a:t>Query:</a:t>
            </a:r>
          </a:p>
          <a:p>
            <a:pPr marL="0" indent="0">
              <a:buNone/>
            </a:pPr>
            <a:r>
              <a:rPr lang="en-US" sz="1600" dirty="0" smtClean="0"/>
              <a:t>INSERT INTO Appointments VALUES</a:t>
            </a:r>
          </a:p>
          <a:p>
            <a:pPr marL="0" indent="0">
              <a:buNone/>
            </a:pPr>
            <a:r>
              <a:rPr lang="en-US" sz="1600" dirty="0" smtClean="0"/>
              <a:t>(201,1,101,'2025-01-10','Completed'),</a:t>
            </a:r>
          </a:p>
          <a:p>
            <a:pPr marL="0" indent="0">
              <a:buNone/>
            </a:pPr>
            <a:r>
              <a:rPr lang="en-US" sz="1600" dirty="0" smtClean="0"/>
              <a:t>(202,2,102,'2025-01-11','Completed'),</a:t>
            </a:r>
          </a:p>
          <a:p>
            <a:pPr marL="0" indent="0">
              <a:buNone/>
            </a:pPr>
            <a:r>
              <a:rPr lang="en-US" sz="1600" dirty="0" smtClean="0"/>
              <a:t>(203,3,101,'2025-01-12','Pending'),</a:t>
            </a:r>
          </a:p>
          <a:p>
            <a:pPr marL="0" indent="0">
              <a:buNone/>
            </a:pPr>
            <a:r>
              <a:rPr lang="en-US" sz="1600" dirty="0" smtClean="0"/>
              <a:t>(204,4,103,'2025-01-13','Completed'),</a:t>
            </a:r>
          </a:p>
          <a:p>
            <a:pPr marL="0" indent="0">
              <a:buNone/>
            </a:pPr>
            <a:r>
              <a:rPr lang="en-US" sz="1600" dirty="0" smtClean="0"/>
              <a:t>(205,5,104,'2025-01-14','Completed'),</a:t>
            </a:r>
          </a:p>
          <a:p>
            <a:pPr marL="0" indent="0">
              <a:buNone/>
            </a:pPr>
            <a:r>
              <a:rPr lang="en-US" sz="1600" dirty="0" smtClean="0"/>
              <a:t>(206,6,105,'2025-01-15','Pending'),</a:t>
            </a:r>
          </a:p>
          <a:p>
            <a:pPr marL="0" indent="0">
              <a:buNone/>
            </a:pPr>
            <a:r>
              <a:rPr lang="en-US" sz="1600" dirty="0" smtClean="0"/>
              <a:t>(207,7,101,'2025-01-16','Completed'),</a:t>
            </a:r>
          </a:p>
          <a:p>
            <a:pPr marL="0" indent="0">
              <a:buNone/>
            </a:pPr>
            <a:r>
              <a:rPr lang="en-US" sz="1600" dirty="0" smtClean="0"/>
              <a:t>(208,8,104,'2025-01-17','Completed'),</a:t>
            </a:r>
          </a:p>
          <a:p>
            <a:pPr marL="0" indent="0">
              <a:buNone/>
            </a:pPr>
            <a:endParaRPr lang="en-US" sz="1600" dirty="0" smtClean="0"/>
          </a:p>
          <a:p>
            <a:pPr marL="0" indent="0">
              <a:buNone/>
            </a:pPr>
            <a:r>
              <a:rPr lang="en-US" sz="1600" b="1" dirty="0" smtClean="0"/>
              <a:t>Insight:</a:t>
            </a:r>
            <a:r>
              <a:rPr lang="en-US" sz="1600" dirty="0" smtClean="0"/>
              <a:t/>
            </a:r>
            <a:br>
              <a:rPr lang="en-US" sz="1600" dirty="0" smtClean="0"/>
            </a:br>
            <a:r>
              <a:rPr lang="en-US" sz="1600" dirty="0" smtClean="0"/>
              <a:t>This query records patient–doctor interactions and helps track appointment status and workload.</a:t>
            </a:r>
            <a:endParaRPr lang="en-US" sz="1600" dirty="0"/>
          </a:p>
        </p:txBody>
      </p:sp>
      <p:pic>
        <p:nvPicPr>
          <p:cNvPr id="4" name="Picture 3"/>
          <p:cNvPicPr>
            <a:picLocks noChangeAspect="1"/>
          </p:cNvPicPr>
          <p:nvPr/>
        </p:nvPicPr>
        <p:blipFill>
          <a:blip r:embed="rId2"/>
          <a:stretch>
            <a:fillRect/>
          </a:stretch>
        </p:blipFill>
        <p:spPr>
          <a:xfrm>
            <a:off x="6223906" y="2515265"/>
            <a:ext cx="3894157" cy="1486029"/>
          </a:xfrm>
          <a:prstGeom prst="rect">
            <a:avLst/>
          </a:prstGeom>
        </p:spPr>
      </p:pic>
    </p:spTree>
    <p:extLst>
      <p:ext uri="{BB962C8B-B14F-4D97-AF65-F5344CB8AC3E}">
        <p14:creationId xmlns:p14="http://schemas.microsoft.com/office/powerpoint/2010/main" val="1781934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325315"/>
            <a:ext cx="10018713" cy="732691"/>
          </a:xfrm>
        </p:spPr>
        <p:txBody>
          <a:bodyPr>
            <a:normAutofit/>
          </a:bodyPr>
          <a:lstStyle/>
          <a:p>
            <a:r>
              <a:rPr lang="en-US" dirty="0" smtClean="0"/>
              <a:t>Insert into Treatments:</a:t>
            </a:r>
            <a:endParaRPr lang="en-US" dirty="0"/>
          </a:p>
        </p:txBody>
      </p:sp>
      <p:sp>
        <p:nvSpPr>
          <p:cNvPr id="3" name="Content Placeholder 2"/>
          <p:cNvSpPr>
            <a:spLocks noGrp="1"/>
          </p:cNvSpPr>
          <p:nvPr>
            <p:ph idx="1"/>
          </p:nvPr>
        </p:nvSpPr>
        <p:spPr>
          <a:xfrm>
            <a:off x="1484310" y="1283677"/>
            <a:ext cx="10018713" cy="4624754"/>
          </a:xfrm>
        </p:spPr>
        <p:txBody>
          <a:bodyPr>
            <a:normAutofit fontScale="25000" lnSpcReduction="20000"/>
          </a:bodyPr>
          <a:lstStyle/>
          <a:p>
            <a:r>
              <a:rPr lang="en-US" sz="6400" b="1" dirty="0" smtClean="0"/>
              <a:t>Query:</a:t>
            </a:r>
          </a:p>
          <a:p>
            <a:pPr marL="0" indent="0">
              <a:buNone/>
            </a:pPr>
            <a:r>
              <a:rPr lang="en-US" sz="6400" dirty="0" smtClean="0"/>
              <a:t>INSERT INTO Treatments VALUES</a:t>
            </a:r>
          </a:p>
          <a:p>
            <a:pPr marL="0" indent="0">
              <a:buNone/>
            </a:pPr>
            <a:r>
              <a:rPr lang="en-US" sz="6400" dirty="0" smtClean="0"/>
              <a:t>(301,201,'Heart Checkup',5000),</a:t>
            </a:r>
          </a:p>
          <a:p>
            <a:pPr marL="0" indent="0">
              <a:buNone/>
            </a:pPr>
            <a:r>
              <a:rPr lang="en-US" sz="6400" dirty="0" smtClean="0"/>
              <a:t>(302,202,'Knee Pain Treatment',3000),</a:t>
            </a:r>
          </a:p>
          <a:p>
            <a:pPr marL="0" indent="0">
              <a:buNone/>
            </a:pPr>
            <a:r>
              <a:rPr lang="en-US" sz="6400" dirty="0" smtClean="0"/>
              <a:t>(303,204,'Migraine Treatment',4500),</a:t>
            </a:r>
          </a:p>
          <a:p>
            <a:pPr marL="0" indent="0">
              <a:buNone/>
            </a:pPr>
            <a:r>
              <a:rPr lang="en-US" sz="6400" dirty="0" smtClean="0"/>
              <a:t>(304,205,'Viral Fever',1500),</a:t>
            </a:r>
          </a:p>
          <a:p>
            <a:pPr marL="0" indent="0">
              <a:buNone/>
            </a:pPr>
            <a:r>
              <a:rPr lang="en-US" sz="6400" dirty="0" smtClean="0"/>
              <a:t>(305,207,'Blood Pressure Monitoring',2500),</a:t>
            </a:r>
          </a:p>
          <a:p>
            <a:pPr marL="0" indent="0">
              <a:buNone/>
            </a:pPr>
            <a:r>
              <a:rPr lang="en-US" sz="6400" dirty="0" smtClean="0"/>
              <a:t>(306,208,'General Health Checkup',2000),</a:t>
            </a:r>
          </a:p>
          <a:p>
            <a:pPr marL="0" indent="0">
              <a:buNone/>
            </a:pPr>
            <a:r>
              <a:rPr lang="en-US" sz="6400" dirty="0" smtClean="0"/>
              <a:t>(307,209,'Neuro Consultation',4800),</a:t>
            </a:r>
          </a:p>
          <a:p>
            <a:pPr marL="0" indent="0">
              <a:buNone/>
            </a:pPr>
            <a:r>
              <a:rPr lang="en-US" sz="6400" dirty="0" smtClean="0"/>
              <a:t>(308,211,'Seasonal Infection',1800),</a:t>
            </a:r>
          </a:p>
          <a:p>
            <a:pPr marL="0" indent="0">
              <a:buNone/>
            </a:pPr>
            <a:r>
              <a:rPr lang="en-US" sz="6400" dirty="0" smtClean="0"/>
              <a:t>(309,213,'Joint Pain Treatment',3200);</a:t>
            </a:r>
          </a:p>
          <a:p>
            <a:pPr marL="0" indent="0">
              <a:buNone/>
            </a:pPr>
            <a:r>
              <a:rPr lang="en-US" sz="6400" dirty="0" smtClean="0"/>
              <a:t>SELECT * FROM Treatments;</a:t>
            </a:r>
          </a:p>
          <a:p>
            <a:pPr marL="0" indent="0">
              <a:buNone/>
            </a:pPr>
            <a:endParaRPr lang="en-US" sz="6400" dirty="0" smtClean="0"/>
          </a:p>
          <a:p>
            <a:pPr marL="0" indent="0">
              <a:buNone/>
            </a:pPr>
            <a:r>
              <a:rPr lang="en-US" sz="6400" b="1" dirty="0" smtClean="0"/>
              <a:t>Insight:</a:t>
            </a:r>
            <a:r>
              <a:rPr lang="en-US" sz="6400" dirty="0" smtClean="0"/>
              <a:t/>
            </a:r>
            <a:br>
              <a:rPr lang="en-US" sz="6400" dirty="0" smtClean="0"/>
            </a:br>
            <a:r>
              <a:rPr lang="en-US" sz="6400" dirty="0" smtClean="0"/>
              <a:t>This query stores treatment and diagnosis information for completed appointments to analyze medical costs and care patterns.</a:t>
            </a:r>
          </a:p>
          <a:p>
            <a:pPr marL="0" indent="0">
              <a:buNone/>
            </a:pPr>
            <a:endParaRPr lang="en-US" sz="2000" dirty="0" smtClean="0"/>
          </a:p>
        </p:txBody>
      </p:sp>
      <p:pic>
        <p:nvPicPr>
          <p:cNvPr id="4" name="Picture 3"/>
          <p:cNvPicPr>
            <a:picLocks noChangeAspect="1"/>
          </p:cNvPicPr>
          <p:nvPr/>
        </p:nvPicPr>
        <p:blipFill>
          <a:blip r:embed="rId2"/>
          <a:stretch>
            <a:fillRect/>
          </a:stretch>
        </p:blipFill>
        <p:spPr>
          <a:xfrm>
            <a:off x="6640068" y="2277434"/>
            <a:ext cx="4046571" cy="1546994"/>
          </a:xfrm>
          <a:prstGeom prst="rect">
            <a:avLst/>
          </a:prstGeom>
        </p:spPr>
      </p:pic>
    </p:spTree>
    <p:extLst>
      <p:ext uri="{BB962C8B-B14F-4D97-AF65-F5344CB8AC3E}">
        <p14:creationId xmlns:p14="http://schemas.microsoft.com/office/powerpoint/2010/main" val="2449206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395654"/>
            <a:ext cx="10018713" cy="703385"/>
          </a:xfrm>
        </p:spPr>
        <p:txBody>
          <a:bodyPr/>
          <a:lstStyle/>
          <a:p>
            <a:r>
              <a:rPr lang="en-US" dirty="0" smtClean="0"/>
              <a:t>Insert into Bills:</a:t>
            </a:r>
            <a:endParaRPr lang="en-US" dirty="0"/>
          </a:p>
        </p:txBody>
      </p:sp>
      <p:sp>
        <p:nvSpPr>
          <p:cNvPr id="3" name="Content Placeholder 2"/>
          <p:cNvSpPr>
            <a:spLocks noGrp="1"/>
          </p:cNvSpPr>
          <p:nvPr>
            <p:ph idx="1"/>
          </p:nvPr>
        </p:nvSpPr>
        <p:spPr>
          <a:xfrm>
            <a:off x="1484310" y="1424355"/>
            <a:ext cx="10018713" cy="4554414"/>
          </a:xfrm>
        </p:spPr>
        <p:txBody>
          <a:bodyPr>
            <a:normAutofit fontScale="70000" lnSpcReduction="20000"/>
          </a:bodyPr>
          <a:lstStyle/>
          <a:p>
            <a:r>
              <a:rPr lang="en-US" sz="2300" b="1" dirty="0" smtClean="0"/>
              <a:t>Query:</a:t>
            </a:r>
          </a:p>
          <a:p>
            <a:pPr marL="0" indent="0">
              <a:buNone/>
            </a:pPr>
            <a:r>
              <a:rPr lang="en-US" sz="2300" dirty="0" smtClean="0"/>
              <a:t>INSERT INTO Bills VALUES</a:t>
            </a:r>
          </a:p>
          <a:p>
            <a:pPr marL="0" indent="0">
              <a:buNone/>
            </a:pPr>
            <a:r>
              <a:rPr lang="en-US" sz="2300" dirty="0" smtClean="0"/>
              <a:t>(401,1,5800,'Card'),</a:t>
            </a:r>
          </a:p>
          <a:p>
            <a:pPr marL="0" indent="0">
              <a:buNone/>
            </a:pPr>
            <a:r>
              <a:rPr lang="en-US" sz="2300" dirty="0" smtClean="0"/>
              <a:t>(402,2,3600,'Cash'),</a:t>
            </a:r>
          </a:p>
          <a:p>
            <a:pPr marL="0" indent="0">
              <a:buNone/>
            </a:pPr>
            <a:r>
              <a:rPr lang="en-US" sz="2300" dirty="0" smtClean="0"/>
              <a:t>(403,4,5200,'UPI'),</a:t>
            </a:r>
          </a:p>
          <a:p>
            <a:pPr marL="0" indent="0">
              <a:buNone/>
            </a:pPr>
            <a:r>
              <a:rPr lang="en-US" sz="2300" dirty="0" smtClean="0"/>
              <a:t>(404,5,1900,'Card'),</a:t>
            </a:r>
          </a:p>
          <a:p>
            <a:pPr marL="0" indent="0">
              <a:buNone/>
            </a:pPr>
            <a:r>
              <a:rPr lang="en-US" sz="2300" dirty="0" smtClean="0"/>
              <a:t>(405,7,2800,'Cash'),</a:t>
            </a:r>
          </a:p>
          <a:p>
            <a:pPr marL="0" indent="0">
              <a:buNone/>
            </a:pPr>
            <a:r>
              <a:rPr lang="en-US" sz="2300" dirty="0" smtClean="0"/>
              <a:t>(406,8,2200,'UPI'),</a:t>
            </a:r>
          </a:p>
          <a:p>
            <a:pPr marL="0" indent="0">
              <a:buNone/>
            </a:pPr>
            <a:r>
              <a:rPr lang="en-US" sz="2300" dirty="0" smtClean="0"/>
              <a:t>(407,9,5000,'Card'),</a:t>
            </a:r>
          </a:p>
          <a:p>
            <a:pPr marL="0" indent="0">
              <a:buNone/>
            </a:pPr>
            <a:r>
              <a:rPr lang="en-US" sz="2300" dirty="0" smtClean="0"/>
              <a:t>(408,11,2000,'Cash'),</a:t>
            </a:r>
          </a:p>
          <a:p>
            <a:pPr marL="0" indent="0">
              <a:buNone/>
            </a:pPr>
            <a:r>
              <a:rPr lang="en-US" sz="2300" dirty="0" smtClean="0"/>
              <a:t>(409,13,3500,'UPI');</a:t>
            </a:r>
          </a:p>
          <a:p>
            <a:pPr marL="0" indent="0">
              <a:buNone/>
            </a:pPr>
            <a:r>
              <a:rPr lang="en-US" sz="2300" dirty="0" smtClean="0"/>
              <a:t>SELECT * FROM Bills;</a:t>
            </a:r>
          </a:p>
          <a:p>
            <a:pPr marL="0" indent="0">
              <a:buNone/>
            </a:pPr>
            <a:r>
              <a:rPr lang="en-US" sz="2300" b="1" dirty="0" smtClean="0"/>
              <a:t>Insight:</a:t>
            </a:r>
            <a:r>
              <a:rPr lang="en-US" sz="2300" dirty="0" smtClean="0"/>
              <a:t/>
            </a:r>
            <a:br>
              <a:rPr lang="en-US" sz="2300" dirty="0" smtClean="0"/>
            </a:br>
            <a:r>
              <a:rPr lang="en-US" sz="2300" dirty="0" smtClean="0"/>
              <a:t>This query records billing information for treated patients to support revenue calculation and financial reporting.</a:t>
            </a:r>
          </a:p>
          <a:p>
            <a:pPr marL="0" indent="0">
              <a:buNone/>
            </a:pPr>
            <a:endParaRPr lang="en-US" sz="2000" dirty="0" smtClean="0"/>
          </a:p>
        </p:txBody>
      </p:sp>
      <p:pic>
        <p:nvPicPr>
          <p:cNvPr id="4" name="Picture 3"/>
          <p:cNvPicPr>
            <a:picLocks noChangeAspect="1"/>
          </p:cNvPicPr>
          <p:nvPr/>
        </p:nvPicPr>
        <p:blipFill>
          <a:blip r:embed="rId2"/>
          <a:stretch>
            <a:fillRect/>
          </a:stretch>
        </p:blipFill>
        <p:spPr>
          <a:xfrm>
            <a:off x="6327110" y="2350411"/>
            <a:ext cx="2949196" cy="1524132"/>
          </a:xfrm>
          <a:prstGeom prst="rect">
            <a:avLst/>
          </a:prstGeom>
        </p:spPr>
      </p:pic>
    </p:spTree>
    <p:extLst>
      <p:ext uri="{BB962C8B-B14F-4D97-AF65-F5344CB8AC3E}">
        <p14:creationId xmlns:p14="http://schemas.microsoft.com/office/powerpoint/2010/main" val="558760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239439"/>
            <a:ext cx="10018713" cy="1002323"/>
          </a:xfrm>
        </p:spPr>
        <p:txBody>
          <a:bodyPr>
            <a:normAutofit/>
          </a:bodyPr>
          <a:lstStyle/>
          <a:p>
            <a:r>
              <a:rPr lang="en-US" dirty="0" smtClean="0"/>
              <a:t>Insert into Payments:</a:t>
            </a:r>
            <a:endParaRPr lang="en-US" dirty="0"/>
          </a:p>
        </p:txBody>
      </p:sp>
      <p:sp>
        <p:nvSpPr>
          <p:cNvPr id="3" name="Content Placeholder 2"/>
          <p:cNvSpPr>
            <a:spLocks noGrp="1"/>
          </p:cNvSpPr>
          <p:nvPr>
            <p:ph idx="1"/>
          </p:nvPr>
        </p:nvSpPr>
        <p:spPr>
          <a:xfrm>
            <a:off x="1484310" y="1241763"/>
            <a:ext cx="10018713" cy="4549438"/>
          </a:xfrm>
        </p:spPr>
        <p:txBody>
          <a:bodyPr>
            <a:normAutofit fontScale="62500" lnSpcReduction="20000"/>
          </a:bodyPr>
          <a:lstStyle/>
          <a:p>
            <a:r>
              <a:rPr lang="en-US" sz="2600" b="1" dirty="0" smtClean="0"/>
              <a:t>Query:</a:t>
            </a:r>
          </a:p>
          <a:p>
            <a:pPr marL="0" indent="0">
              <a:buNone/>
            </a:pPr>
            <a:r>
              <a:rPr lang="en-US" sz="2600" dirty="0" smtClean="0"/>
              <a:t>INSERT INTO Payments VALUES</a:t>
            </a:r>
          </a:p>
          <a:p>
            <a:pPr marL="0" indent="0">
              <a:buNone/>
            </a:pPr>
            <a:r>
              <a:rPr lang="en-US" sz="2600" dirty="0" smtClean="0"/>
              <a:t>(501,401,'2025-01-10',5800,'Paid'),</a:t>
            </a:r>
          </a:p>
          <a:p>
            <a:pPr marL="0" indent="0">
              <a:buNone/>
            </a:pPr>
            <a:r>
              <a:rPr lang="en-US" sz="2600" dirty="0" smtClean="0"/>
              <a:t>(502,402,'2025-01-11',3600,'Paid'),</a:t>
            </a:r>
          </a:p>
          <a:p>
            <a:pPr marL="0" indent="0">
              <a:buNone/>
            </a:pPr>
            <a:r>
              <a:rPr lang="en-US" sz="2600" dirty="0" smtClean="0"/>
              <a:t>(503,403,'2025-01-13',5200,'Paid'),</a:t>
            </a:r>
          </a:p>
          <a:p>
            <a:pPr marL="0" indent="0">
              <a:buNone/>
            </a:pPr>
            <a:r>
              <a:rPr lang="en-US" sz="2600" dirty="0" smtClean="0"/>
              <a:t>(504,404,'2025-01-14',1900,'Paid'),</a:t>
            </a:r>
          </a:p>
          <a:p>
            <a:pPr marL="0" indent="0">
              <a:buNone/>
            </a:pPr>
            <a:r>
              <a:rPr lang="en-US" sz="2600" dirty="0" smtClean="0"/>
              <a:t>(505,405,'2025-01-16',2800,'Paid'),</a:t>
            </a:r>
          </a:p>
          <a:p>
            <a:pPr marL="0" indent="0">
              <a:buNone/>
            </a:pPr>
            <a:r>
              <a:rPr lang="en-US" sz="2600" dirty="0" smtClean="0"/>
              <a:t>(506,406,'2025-01-17',2200,'Paid'),</a:t>
            </a:r>
          </a:p>
          <a:p>
            <a:pPr marL="0" indent="0">
              <a:buNone/>
            </a:pPr>
            <a:r>
              <a:rPr lang="en-US" sz="2600" dirty="0" smtClean="0"/>
              <a:t>(507,407,'2025-01-18',5000,'Paid'),</a:t>
            </a:r>
          </a:p>
          <a:p>
            <a:pPr marL="0" indent="0">
              <a:buNone/>
            </a:pPr>
            <a:r>
              <a:rPr lang="en-US" sz="2600" dirty="0" smtClean="0"/>
              <a:t>(508,408,'2025-01-20',2000,'Paid'),</a:t>
            </a:r>
          </a:p>
          <a:p>
            <a:pPr marL="0" indent="0">
              <a:buNone/>
            </a:pPr>
            <a:r>
              <a:rPr lang="en-US" sz="2600" dirty="0" smtClean="0"/>
              <a:t>(509,409,'2025-01-22',3500,'Paid');</a:t>
            </a:r>
          </a:p>
          <a:p>
            <a:pPr marL="0" indent="0">
              <a:buNone/>
            </a:pPr>
            <a:r>
              <a:rPr lang="en-US" sz="2600" dirty="0" smtClean="0"/>
              <a:t>SELECT * FROM Payments;</a:t>
            </a:r>
          </a:p>
          <a:p>
            <a:pPr marL="0" indent="0">
              <a:buNone/>
            </a:pPr>
            <a:r>
              <a:rPr lang="en-US" sz="2600" b="1" dirty="0" smtClean="0"/>
              <a:t>Insight:</a:t>
            </a:r>
            <a:r>
              <a:rPr lang="en-US" sz="2600" dirty="0" smtClean="0"/>
              <a:t/>
            </a:r>
            <a:br>
              <a:rPr lang="en-US" sz="2600" dirty="0" smtClean="0"/>
            </a:br>
            <a:r>
              <a:rPr lang="en-US" sz="2600" dirty="0" smtClean="0"/>
              <a:t>This query logs payment transactions, ensuring accurate tracking of hospital income.</a:t>
            </a:r>
          </a:p>
          <a:p>
            <a:pPr marL="0" indent="0">
              <a:buNone/>
            </a:pPr>
            <a:endParaRPr lang="en-US" sz="2000" dirty="0" smtClean="0"/>
          </a:p>
        </p:txBody>
      </p:sp>
      <p:pic>
        <p:nvPicPr>
          <p:cNvPr id="4" name="Picture 3"/>
          <p:cNvPicPr>
            <a:picLocks noChangeAspect="1"/>
          </p:cNvPicPr>
          <p:nvPr/>
        </p:nvPicPr>
        <p:blipFill>
          <a:blip r:embed="rId2"/>
          <a:stretch>
            <a:fillRect/>
          </a:stretch>
        </p:blipFill>
        <p:spPr>
          <a:xfrm>
            <a:off x="6313307" y="2407415"/>
            <a:ext cx="3627434" cy="1470787"/>
          </a:xfrm>
          <a:prstGeom prst="rect">
            <a:avLst/>
          </a:prstGeom>
        </p:spPr>
      </p:pic>
    </p:spTree>
    <p:extLst>
      <p:ext uri="{BB962C8B-B14F-4D97-AF65-F5344CB8AC3E}">
        <p14:creationId xmlns:p14="http://schemas.microsoft.com/office/powerpoint/2010/main" val="3813712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9818" y="641840"/>
            <a:ext cx="10018713" cy="861645"/>
          </a:xfrm>
        </p:spPr>
        <p:txBody>
          <a:bodyPr/>
          <a:lstStyle/>
          <a:p>
            <a:r>
              <a:rPr lang="en-US" dirty="0" smtClean="0"/>
              <a:t>Q1. Total number of patients</a:t>
            </a:r>
            <a:endParaRPr lang="en-US" dirty="0"/>
          </a:p>
        </p:txBody>
      </p:sp>
      <p:sp>
        <p:nvSpPr>
          <p:cNvPr id="3" name="Content Placeholder 2"/>
          <p:cNvSpPr>
            <a:spLocks noGrp="1"/>
          </p:cNvSpPr>
          <p:nvPr>
            <p:ph idx="1"/>
          </p:nvPr>
        </p:nvSpPr>
        <p:spPr>
          <a:xfrm>
            <a:off x="1484310" y="1503485"/>
            <a:ext cx="10018713" cy="4287715"/>
          </a:xfrm>
        </p:spPr>
        <p:txBody>
          <a:bodyPr/>
          <a:lstStyle/>
          <a:p>
            <a:r>
              <a:rPr lang="en-US" b="1" dirty="0" smtClean="0"/>
              <a:t>Query:</a:t>
            </a:r>
          </a:p>
          <a:p>
            <a:pPr marL="0" indent="0">
              <a:buNone/>
            </a:pPr>
            <a:r>
              <a:rPr lang="en-US" dirty="0" smtClean="0"/>
              <a:t>SELECT COUNT(*) AS </a:t>
            </a:r>
            <a:r>
              <a:rPr lang="en-US" dirty="0" err="1" smtClean="0"/>
              <a:t>total_patients</a:t>
            </a:r>
            <a:endParaRPr lang="en-US" dirty="0" smtClean="0"/>
          </a:p>
          <a:p>
            <a:pPr marL="0" indent="0">
              <a:buNone/>
            </a:pPr>
            <a:r>
              <a:rPr lang="en-US" dirty="0" smtClean="0"/>
              <a:t>FROM Patients;</a:t>
            </a:r>
          </a:p>
          <a:p>
            <a:pPr marL="0" indent="0">
              <a:buNone/>
            </a:pPr>
            <a:endParaRPr lang="en-US" dirty="0" smtClean="0"/>
          </a:p>
          <a:p>
            <a:pPr marL="0" indent="0">
              <a:buNone/>
            </a:pPr>
            <a:r>
              <a:rPr lang="en-US" b="1" dirty="0" smtClean="0"/>
              <a:t>Insight:</a:t>
            </a:r>
            <a:r>
              <a:rPr lang="en-US" dirty="0" smtClean="0"/>
              <a:t> Shows overall hospital reach. A higher count indicates strong patient inflow.</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15260" r="41210"/>
          <a:stretch/>
        </p:blipFill>
        <p:spPr>
          <a:xfrm>
            <a:off x="7637398" y="2532185"/>
            <a:ext cx="2201194" cy="847621"/>
          </a:xfrm>
          <a:prstGeom prst="rect">
            <a:avLst/>
          </a:prstGeom>
        </p:spPr>
      </p:pic>
    </p:spTree>
    <p:extLst>
      <p:ext uri="{BB962C8B-B14F-4D97-AF65-F5344CB8AC3E}">
        <p14:creationId xmlns:p14="http://schemas.microsoft.com/office/powerpoint/2010/main" val="3846039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923192"/>
          </a:xfrm>
        </p:spPr>
        <p:txBody>
          <a:bodyPr/>
          <a:lstStyle/>
          <a:p>
            <a:r>
              <a:rPr lang="en-US" dirty="0" smtClean="0"/>
              <a:t>Q2. Patients distribution by city</a:t>
            </a:r>
            <a:endParaRPr lang="en-US" dirty="0"/>
          </a:p>
        </p:txBody>
      </p:sp>
      <p:sp>
        <p:nvSpPr>
          <p:cNvPr id="3" name="Content Placeholder 2"/>
          <p:cNvSpPr>
            <a:spLocks noGrp="1"/>
          </p:cNvSpPr>
          <p:nvPr>
            <p:ph idx="1"/>
          </p:nvPr>
        </p:nvSpPr>
        <p:spPr>
          <a:xfrm>
            <a:off x="1484310" y="2022231"/>
            <a:ext cx="10018713" cy="3768969"/>
          </a:xfrm>
        </p:spPr>
        <p:txBody>
          <a:bodyPr>
            <a:normAutofit lnSpcReduction="10000"/>
          </a:bodyPr>
          <a:lstStyle/>
          <a:p>
            <a:r>
              <a:rPr lang="en-US" b="1" dirty="0" smtClean="0"/>
              <a:t>Query:</a:t>
            </a:r>
          </a:p>
          <a:p>
            <a:pPr marL="0" indent="0">
              <a:buNone/>
            </a:pPr>
            <a:r>
              <a:rPr lang="en-US" dirty="0" smtClean="0"/>
              <a:t>SELECT city, COUNT(*) AS </a:t>
            </a:r>
            <a:r>
              <a:rPr lang="en-US" dirty="0" err="1" smtClean="0"/>
              <a:t>patient_count</a:t>
            </a:r>
            <a:endParaRPr lang="en-US" dirty="0" smtClean="0"/>
          </a:p>
          <a:p>
            <a:pPr marL="0" indent="0">
              <a:buNone/>
            </a:pPr>
            <a:r>
              <a:rPr lang="en-US" dirty="0" smtClean="0"/>
              <a:t>FROM Patients</a:t>
            </a:r>
          </a:p>
          <a:p>
            <a:pPr marL="0" indent="0">
              <a:buNone/>
            </a:pPr>
            <a:r>
              <a:rPr lang="en-US" dirty="0" smtClean="0"/>
              <a:t>GROUP BY city</a:t>
            </a:r>
          </a:p>
          <a:p>
            <a:pPr marL="0" indent="0">
              <a:buNone/>
            </a:pPr>
            <a:r>
              <a:rPr lang="en-US" dirty="0" smtClean="0"/>
              <a:t>ORDER BY </a:t>
            </a:r>
            <a:r>
              <a:rPr lang="en-US" dirty="0" err="1" smtClean="0"/>
              <a:t>patient_count</a:t>
            </a:r>
            <a:r>
              <a:rPr lang="en-US" dirty="0" smtClean="0"/>
              <a:t> DESC;</a:t>
            </a:r>
          </a:p>
          <a:p>
            <a:pPr marL="0" indent="0">
              <a:buNone/>
            </a:pPr>
            <a:endParaRPr lang="en-US" dirty="0" smtClean="0"/>
          </a:p>
          <a:p>
            <a:pPr marL="0" indent="0">
              <a:buNone/>
            </a:pPr>
            <a:r>
              <a:rPr lang="en-US" b="1" dirty="0" smtClean="0"/>
              <a:t>Insight:</a:t>
            </a:r>
            <a:r>
              <a:rPr lang="en-US" dirty="0" smtClean="0"/>
              <a:t> Cities with higher patients are key service areas. Marketing and outreach can focus here.</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6908" t="11562" r="19447"/>
          <a:stretch/>
        </p:blipFill>
        <p:spPr>
          <a:xfrm>
            <a:off x="8124090" y="2127739"/>
            <a:ext cx="2048609" cy="2535882"/>
          </a:xfrm>
          <a:prstGeom prst="rect">
            <a:avLst/>
          </a:prstGeom>
        </p:spPr>
      </p:pic>
    </p:spTree>
    <p:extLst>
      <p:ext uri="{BB962C8B-B14F-4D97-AF65-F5344CB8AC3E}">
        <p14:creationId xmlns:p14="http://schemas.microsoft.com/office/powerpoint/2010/main" val="1224929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808892"/>
          </a:xfrm>
        </p:spPr>
        <p:txBody>
          <a:bodyPr/>
          <a:lstStyle/>
          <a:p>
            <a:r>
              <a:rPr lang="en-US" dirty="0" smtClean="0"/>
              <a:t>Q3. Gender-wise patient analysis</a:t>
            </a:r>
            <a:endParaRPr lang="en-US" dirty="0"/>
          </a:p>
        </p:txBody>
      </p:sp>
      <p:sp>
        <p:nvSpPr>
          <p:cNvPr id="3" name="Content Placeholder 2"/>
          <p:cNvSpPr>
            <a:spLocks noGrp="1"/>
          </p:cNvSpPr>
          <p:nvPr>
            <p:ph idx="1"/>
          </p:nvPr>
        </p:nvSpPr>
        <p:spPr>
          <a:xfrm>
            <a:off x="1484310" y="1776047"/>
            <a:ext cx="10018713" cy="4015154"/>
          </a:xfrm>
        </p:spPr>
        <p:txBody>
          <a:bodyPr>
            <a:normAutofit/>
          </a:bodyPr>
          <a:lstStyle/>
          <a:p>
            <a:r>
              <a:rPr lang="en-US" b="1" dirty="0" smtClean="0"/>
              <a:t>Query:</a:t>
            </a:r>
            <a:endParaRPr lang="en-US" dirty="0" smtClean="0"/>
          </a:p>
          <a:p>
            <a:pPr marL="0" indent="0">
              <a:buNone/>
            </a:pPr>
            <a:r>
              <a:rPr lang="en-US" dirty="0" smtClean="0"/>
              <a:t>SELECT gender, COUNT(*) AS </a:t>
            </a:r>
            <a:r>
              <a:rPr lang="en-US" dirty="0" err="1" smtClean="0"/>
              <a:t>total_patients</a:t>
            </a:r>
            <a:endParaRPr lang="en-US" dirty="0" smtClean="0"/>
          </a:p>
          <a:p>
            <a:pPr marL="0" indent="0">
              <a:buNone/>
            </a:pPr>
            <a:r>
              <a:rPr lang="en-US" dirty="0" smtClean="0"/>
              <a:t>FROM Patients</a:t>
            </a:r>
          </a:p>
          <a:p>
            <a:pPr marL="0" indent="0">
              <a:buNone/>
            </a:pPr>
            <a:r>
              <a:rPr lang="en-US" dirty="0" smtClean="0"/>
              <a:t>GROUP BY gender;</a:t>
            </a:r>
          </a:p>
          <a:p>
            <a:pPr marL="0" indent="0">
              <a:buNone/>
            </a:pPr>
            <a:endParaRPr lang="en-US" dirty="0" smtClean="0"/>
          </a:p>
          <a:p>
            <a:pPr marL="0" indent="0">
              <a:buNone/>
            </a:pPr>
            <a:r>
              <a:rPr lang="en-US" b="1" dirty="0" smtClean="0"/>
              <a:t>Insight:</a:t>
            </a:r>
            <a:r>
              <a:rPr lang="en-US" dirty="0" smtClean="0"/>
              <a:t> Helps understand gender ratio and plan gender-specific health programs.</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3514" t="9446" r="7851" b="16438"/>
          <a:stretch/>
        </p:blipFill>
        <p:spPr>
          <a:xfrm>
            <a:off x="8185639" y="2751991"/>
            <a:ext cx="2514601" cy="931985"/>
          </a:xfrm>
          <a:prstGeom prst="rect">
            <a:avLst/>
          </a:prstGeom>
        </p:spPr>
      </p:pic>
    </p:spTree>
    <p:extLst>
      <p:ext uri="{BB962C8B-B14F-4D97-AF65-F5344CB8AC3E}">
        <p14:creationId xmlns:p14="http://schemas.microsoft.com/office/powerpoint/2010/main" val="2245518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888023"/>
          </a:xfrm>
        </p:spPr>
        <p:txBody>
          <a:bodyPr>
            <a:normAutofit/>
          </a:bodyPr>
          <a:lstStyle/>
          <a:p>
            <a:r>
              <a:rPr lang="en-US" dirty="0" smtClean="0"/>
              <a:t>Q4. Doctor-wise appointment count</a:t>
            </a:r>
            <a:endParaRPr lang="en-US" dirty="0"/>
          </a:p>
        </p:txBody>
      </p:sp>
      <p:sp>
        <p:nvSpPr>
          <p:cNvPr id="3" name="Content Placeholder 2"/>
          <p:cNvSpPr>
            <a:spLocks noGrp="1"/>
          </p:cNvSpPr>
          <p:nvPr>
            <p:ph idx="1"/>
          </p:nvPr>
        </p:nvSpPr>
        <p:spPr>
          <a:xfrm>
            <a:off x="1484310" y="1828799"/>
            <a:ext cx="10018713" cy="3962401"/>
          </a:xfrm>
        </p:spPr>
        <p:txBody>
          <a:bodyPr>
            <a:normAutofit fontScale="92500" lnSpcReduction="20000"/>
          </a:bodyPr>
          <a:lstStyle/>
          <a:p>
            <a:r>
              <a:rPr lang="en-US" b="1" dirty="0" smtClean="0"/>
              <a:t>Query:</a:t>
            </a:r>
            <a:endParaRPr lang="en-US" dirty="0" smtClean="0"/>
          </a:p>
          <a:p>
            <a:pPr marL="0" indent="0">
              <a:buNone/>
            </a:pPr>
            <a:r>
              <a:rPr lang="en-US" dirty="0" smtClean="0"/>
              <a:t>SELECT </a:t>
            </a:r>
            <a:r>
              <a:rPr lang="en-US" dirty="0" err="1" smtClean="0"/>
              <a:t>d.doctor_name</a:t>
            </a:r>
            <a:r>
              <a:rPr lang="en-US" dirty="0" smtClean="0"/>
              <a:t>,</a:t>
            </a:r>
          </a:p>
          <a:p>
            <a:pPr marL="0" indent="0">
              <a:buNone/>
            </a:pPr>
            <a:r>
              <a:rPr lang="en-US" dirty="0" smtClean="0"/>
              <a:t>       COUNT(</a:t>
            </a:r>
            <a:r>
              <a:rPr lang="en-US" dirty="0" err="1" smtClean="0"/>
              <a:t>a.appointment_id</a:t>
            </a:r>
            <a:r>
              <a:rPr lang="en-US" dirty="0" smtClean="0"/>
              <a:t>) AS </a:t>
            </a:r>
            <a:r>
              <a:rPr lang="en-US" dirty="0" err="1" smtClean="0"/>
              <a:t>total_appointments</a:t>
            </a:r>
            <a:endParaRPr lang="en-US" dirty="0"/>
          </a:p>
          <a:p>
            <a:pPr marL="0" indent="0">
              <a:buNone/>
            </a:pPr>
            <a:r>
              <a:rPr lang="en-US" dirty="0" smtClean="0"/>
              <a:t>FROM Doctors d</a:t>
            </a:r>
          </a:p>
          <a:p>
            <a:pPr marL="0" indent="0">
              <a:buNone/>
            </a:pPr>
            <a:r>
              <a:rPr lang="en-US" dirty="0" smtClean="0"/>
              <a:t>JOIN Appointments a ON </a:t>
            </a:r>
            <a:r>
              <a:rPr lang="en-US" dirty="0" err="1" smtClean="0"/>
              <a:t>d.doctor_id</a:t>
            </a:r>
            <a:r>
              <a:rPr lang="en-US" dirty="0" smtClean="0"/>
              <a:t> = </a:t>
            </a:r>
            <a:r>
              <a:rPr lang="en-US" dirty="0" err="1" smtClean="0"/>
              <a:t>a.doctor_id</a:t>
            </a:r>
            <a:endParaRPr lang="en-US" dirty="0" smtClean="0"/>
          </a:p>
          <a:p>
            <a:pPr marL="0" indent="0">
              <a:buNone/>
            </a:pPr>
            <a:r>
              <a:rPr lang="en-US" dirty="0" smtClean="0"/>
              <a:t>GROUP BY </a:t>
            </a:r>
            <a:r>
              <a:rPr lang="en-US" dirty="0" err="1" smtClean="0"/>
              <a:t>d.doctor_name</a:t>
            </a:r>
            <a:endParaRPr lang="en-US" dirty="0" smtClean="0"/>
          </a:p>
          <a:p>
            <a:pPr marL="0" indent="0">
              <a:buNone/>
            </a:pPr>
            <a:r>
              <a:rPr lang="en-US" dirty="0" smtClean="0"/>
              <a:t>ORDER BY </a:t>
            </a:r>
            <a:r>
              <a:rPr lang="en-US" dirty="0" err="1" smtClean="0"/>
              <a:t>total_appointments</a:t>
            </a:r>
            <a:r>
              <a:rPr lang="en-US" dirty="0" smtClean="0"/>
              <a:t> DESC;</a:t>
            </a:r>
          </a:p>
          <a:p>
            <a:pPr marL="0" indent="0">
              <a:buNone/>
            </a:pPr>
            <a:endParaRPr lang="en-US" dirty="0"/>
          </a:p>
          <a:p>
            <a:pPr marL="0" indent="0">
              <a:buNone/>
            </a:pPr>
            <a:r>
              <a:rPr lang="en-US" b="1" dirty="0" smtClean="0"/>
              <a:t>Insight:</a:t>
            </a:r>
            <a:r>
              <a:rPr lang="en-US" dirty="0" smtClean="0"/>
              <a:t> Doctors with higher appointments have greater workload and may need support.</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935" t="8000" r="2828" b="3334"/>
          <a:stretch/>
        </p:blipFill>
        <p:spPr>
          <a:xfrm>
            <a:off x="8475783" y="2655276"/>
            <a:ext cx="2558563" cy="1503485"/>
          </a:xfrm>
          <a:prstGeom prst="rect">
            <a:avLst/>
          </a:prstGeom>
        </p:spPr>
      </p:pic>
    </p:spTree>
    <p:extLst>
      <p:ext uri="{BB962C8B-B14F-4D97-AF65-F5344CB8AC3E}">
        <p14:creationId xmlns:p14="http://schemas.microsoft.com/office/powerpoint/2010/main" val="2150803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879231"/>
          </a:xfrm>
        </p:spPr>
        <p:txBody>
          <a:bodyPr/>
          <a:lstStyle/>
          <a:p>
            <a:r>
              <a:rPr lang="en-US" dirty="0" smtClean="0"/>
              <a:t>Q5. Specialization-wise demand</a:t>
            </a:r>
            <a:endParaRPr lang="en-US" dirty="0"/>
          </a:p>
        </p:txBody>
      </p:sp>
      <p:sp>
        <p:nvSpPr>
          <p:cNvPr id="3" name="Content Placeholder 2"/>
          <p:cNvSpPr>
            <a:spLocks noGrp="1"/>
          </p:cNvSpPr>
          <p:nvPr>
            <p:ph idx="1"/>
          </p:nvPr>
        </p:nvSpPr>
        <p:spPr>
          <a:xfrm>
            <a:off x="1484310" y="2022231"/>
            <a:ext cx="10018713" cy="3768969"/>
          </a:xfrm>
        </p:spPr>
        <p:txBody>
          <a:bodyPr>
            <a:normAutofit fontScale="92500" lnSpcReduction="20000"/>
          </a:bodyPr>
          <a:lstStyle/>
          <a:p>
            <a:r>
              <a:rPr lang="en-US" b="1" dirty="0" smtClean="0"/>
              <a:t>Query:</a:t>
            </a:r>
          </a:p>
          <a:p>
            <a:pPr marL="0" indent="0">
              <a:buNone/>
            </a:pPr>
            <a:r>
              <a:rPr lang="en-US" dirty="0" smtClean="0"/>
              <a:t>SELECT </a:t>
            </a:r>
            <a:r>
              <a:rPr lang="en-US" dirty="0" err="1" smtClean="0"/>
              <a:t>d.specialization</a:t>
            </a:r>
            <a:r>
              <a:rPr lang="en-US" dirty="0" smtClean="0"/>
              <a:t>,</a:t>
            </a:r>
          </a:p>
          <a:p>
            <a:pPr marL="0" indent="0">
              <a:buNone/>
            </a:pPr>
            <a:r>
              <a:rPr lang="en-US" dirty="0" smtClean="0"/>
              <a:t>       COUNT(</a:t>
            </a:r>
            <a:r>
              <a:rPr lang="en-US" dirty="0" err="1" smtClean="0"/>
              <a:t>a.appointment_id</a:t>
            </a:r>
            <a:r>
              <a:rPr lang="en-US" dirty="0" smtClean="0"/>
              <a:t>) AS </a:t>
            </a:r>
            <a:r>
              <a:rPr lang="en-US" dirty="0" err="1" smtClean="0"/>
              <a:t>visit_count</a:t>
            </a:r>
            <a:endParaRPr lang="en-US" dirty="0" smtClean="0"/>
          </a:p>
          <a:p>
            <a:pPr marL="0" indent="0">
              <a:buNone/>
            </a:pPr>
            <a:r>
              <a:rPr lang="en-US" dirty="0" smtClean="0"/>
              <a:t>FROM Doctors d</a:t>
            </a:r>
          </a:p>
          <a:p>
            <a:pPr marL="0" indent="0">
              <a:buNone/>
            </a:pPr>
            <a:r>
              <a:rPr lang="en-US" dirty="0" smtClean="0"/>
              <a:t>JOIN Appointments a ON </a:t>
            </a:r>
            <a:r>
              <a:rPr lang="en-US" dirty="0" err="1" smtClean="0"/>
              <a:t>d.doctor_id</a:t>
            </a:r>
            <a:r>
              <a:rPr lang="en-US" dirty="0" smtClean="0"/>
              <a:t> = </a:t>
            </a:r>
            <a:r>
              <a:rPr lang="en-US" dirty="0" err="1" smtClean="0"/>
              <a:t>a.doctor_id</a:t>
            </a:r>
            <a:endParaRPr lang="en-US" dirty="0" smtClean="0"/>
          </a:p>
          <a:p>
            <a:pPr marL="0" indent="0">
              <a:buNone/>
            </a:pPr>
            <a:r>
              <a:rPr lang="en-US" dirty="0" smtClean="0"/>
              <a:t>GROUP BY </a:t>
            </a:r>
            <a:r>
              <a:rPr lang="en-US" dirty="0" err="1" smtClean="0"/>
              <a:t>d.specialization</a:t>
            </a:r>
            <a:endParaRPr lang="en-US" dirty="0" smtClean="0"/>
          </a:p>
          <a:p>
            <a:pPr marL="0" indent="0">
              <a:buNone/>
            </a:pPr>
            <a:r>
              <a:rPr lang="en-US" dirty="0" smtClean="0"/>
              <a:t>ORDER BY </a:t>
            </a:r>
            <a:r>
              <a:rPr lang="en-US" dirty="0" err="1" smtClean="0"/>
              <a:t>visit_count</a:t>
            </a:r>
            <a:r>
              <a:rPr lang="en-US" dirty="0" smtClean="0"/>
              <a:t> DESC;</a:t>
            </a:r>
          </a:p>
          <a:p>
            <a:pPr marL="0" indent="0">
              <a:buNone/>
            </a:pPr>
            <a:endParaRPr lang="en-US" dirty="0" smtClean="0"/>
          </a:p>
          <a:p>
            <a:pPr marL="0" indent="0">
              <a:buNone/>
            </a:pPr>
            <a:r>
              <a:rPr lang="en-US" b="1" dirty="0" smtClean="0"/>
              <a:t>Insight:</a:t>
            </a:r>
            <a:r>
              <a:rPr lang="en-US" dirty="0" smtClean="0"/>
              <a:t> High-demand departments may require more doctors or extended hours.</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21897"/>
          <a:stretch/>
        </p:blipFill>
        <p:spPr>
          <a:xfrm>
            <a:off x="8427269" y="2604659"/>
            <a:ext cx="2248214" cy="1302056"/>
          </a:xfrm>
          <a:prstGeom prst="rect">
            <a:avLst/>
          </a:prstGeom>
        </p:spPr>
      </p:pic>
    </p:spTree>
    <p:extLst>
      <p:ext uri="{BB962C8B-B14F-4D97-AF65-F5344CB8AC3E}">
        <p14:creationId xmlns:p14="http://schemas.microsoft.com/office/powerpoint/2010/main" val="3973520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931985"/>
          </a:xfrm>
        </p:spPr>
        <p:txBody>
          <a:bodyPr>
            <a:normAutofit/>
          </a:bodyPr>
          <a:lstStyle/>
          <a:p>
            <a:r>
              <a:rPr lang="en-US" dirty="0" smtClean="0"/>
              <a:t>Q6. Completed vs pending appointments</a:t>
            </a:r>
            <a:endParaRPr lang="en-US" dirty="0"/>
          </a:p>
        </p:txBody>
      </p:sp>
      <p:sp>
        <p:nvSpPr>
          <p:cNvPr id="3" name="Content Placeholder 2"/>
          <p:cNvSpPr>
            <a:spLocks noGrp="1"/>
          </p:cNvSpPr>
          <p:nvPr>
            <p:ph idx="1"/>
          </p:nvPr>
        </p:nvSpPr>
        <p:spPr>
          <a:xfrm>
            <a:off x="1484311" y="1881555"/>
            <a:ext cx="10018713" cy="3754314"/>
          </a:xfrm>
        </p:spPr>
        <p:txBody>
          <a:bodyPr/>
          <a:lstStyle/>
          <a:p>
            <a:r>
              <a:rPr lang="en-US" b="1" dirty="0" smtClean="0"/>
              <a:t>Query:</a:t>
            </a:r>
          </a:p>
          <a:p>
            <a:pPr marL="0" indent="0">
              <a:buNone/>
            </a:pPr>
            <a:r>
              <a:rPr lang="en-US" dirty="0" smtClean="0"/>
              <a:t>SELECT status, COUNT(*) AS </a:t>
            </a:r>
            <a:r>
              <a:rPr lang="en-US" dirty="0" err="1" smtClean="0"/>
              <a:t>total_appointments</a:t>
            </a:r>
            <a:endParaRPr lang="en-US" dirty="0" smtClean="0"/>
          </a:p>
          <a:p>
            <a:pPr marL="0" indent="0">
              <a:buNone/>
            </a:pPr>
            <a:r>
              <a:rPr lang="en-US" dirty="0" smtClean="0"/>
              <a:t>FROM Appointments</a:t>
            </a:r>
          </a:p>
          <a:p>
            <a:pPr marL="0" indent="0">
              <a:buNone/>
            </a:pPr>
            <a:r>
              <a:rPr lang="en-US" dirty="0" smtClean="0"/>
              <a:t>GROUP BY status;</a:t>
            </a:r>
          </a:p>
          <a:p>
            <a:pPr marL="0" indent="0">
              <a:buNone/>
            </a:pPr>
            <a:endParaRPr lang="en-US" dirty="0" smtClean="0"/>
          </a:p>
          <a:p>
            <a:pPr marL="0" indent="0">
              <a:buNone/>
            </a:pPr>
            <a:r>
              <a:rPr lang="en-US" b="1" dirty="0" smtClean="0"/>
              <a:t>Insight:</a:t>
            </a:r>
            <a:r>
              <a:rPr lang="en-US" dirty="0" smtClean="0"/>
              <a:t> A high number of pending appointments indicates operational delays.</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3572" t="30525" r="2454"/>
          <a:stretch/>
        </p:blipFill>
        <p:spPr>
          <a:xfrm>
            <a:off x="8220809" y="2910254"/>
            <a:ext cx="2461846" cy="721408"/>
          </a:xfrm>
          <a:prstGeom prst="rect">
            <a:avLst/>
          </a:prstGeom>
        </p:spPr>
      </p:pic>
    </p:spTree>
    <p:extLst>
      <p:ext uri="{BB962C8B-B14F-4D97-AF65-F5344CB8AC3E}">
        <p14:creationId xmlns:p14="http://schemas.microsoft.com/office/powerpoint/2010/main" val="3479067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747346"/>
          </a:xfrm>
        </p:spPr>
        <p:txBody>
          <a:bodyPr>
            <a:normAutofit/>
          </a:bodyPr>
          <a:lstStyle/>
          <a:p>
            <a:r>
              <a:rPr lang="en-US" dirty="0" smtClean="0"/>
              <a:t>Q7. Patients with pending appointments</a:t>
            </a:r>
            <a:endParaRPr lang="en-US" dirty="0"/>
          </a:p>
        </p:txBody>
      </p:sp>
      <p:sp>
        <p:nvSpPr>
          <p:cNvPr id="3" name="Content Placeholder 2"/>
          <p:cNvSpPr>
            <a:spLocks noGrp="1"/>
          </p:cNvSpPr>
          <p:nvPr>
            <p:ph idx="1"/>
          </p:nvPr>
        </p:nvSpPr>
        <p:spPr>
          <a:xfrm>
            <a:off x="1484310" y="1828801"/>
            <a:ext cx="10018713" cy="3962400"/>
          </a:xfrm>
        </p:spPr>
        <p:txBody>
          <a:bodyPr>
            <a:normAutofit/>
          </a:bodyPr>
          <a:lstStyle/>
          <a:p>
            <a:r>
              <a:rPr lang="en-US" b="1" dirty="0" smtClean="0"/>
              <a:t>Query:</a:t>
            </a:r>
          </a:p>
          <a:p>
            <a:pPr marL="0" indent="0">
              <a:buNone/>
            </a:pPr>
            <a:r>
              <a:rPr lang="en-US" dirty="0" smtClean="0"/>
              <a:t>SELECT </a:t>
            </a:r>
            <a:r>
              <a:rPr lang="en-US" dirty="0" err="1" smtClean="0"/>
              <a:t>p.patient_name</a:t>
            </a:r>
            <a:r>
              <a:rPr lang="en-US" dirty="0" smtClean="0"/>
              <a:t>, </a:t>
            </a:r>
            <a:r>
              <a:rPr lang="en-US" dirty="0" err="1" smtClean="0"/>
              <a:t>a.appointment_date</a:t>
            </a:r>
            <a:endParaRPr lang="en-US" dirty="0" smtClean="0"/>
          </a:p>
          <a:p>
            <a:pPr marL="0" indent="0">
              <a:buNone/>
            </a:pPr>
            <a:r>
              <a:rPr lang="en-US" dirty="0" smtClean="0"/>
              <a:t>FROM Patients p</a:t>
            </a:r>
          </a:p>
          <a:p>
            <a:pPr marL="0" indent="0">
              <a:buNone/>
            </a:pPr>
            <a:r>
              <a:rPr lang="en-US" dirty="0" smtClean="0"/>
              <a:t>JOIN Appointments a ON </a:t>
            </a:r>
            <a:r>
              <a:rPr lang="en-US" dirty="0" err="1" smtClean="0"/>
              <a:t>p.patient_id</a:t>
            </a:r>
            <a:r>
              <a:rPr lang="en-US" dirty="0" smtClean="0"/>
              <a:t> = </a:t>
            </a:r>
            <a:r>
              <a:rPr lang="en-US" dirty="0" err="1" smtClean="0"/>
              <a:t>a.patient_id</a:t>
            </a:r>
            <a:endParaRPr lang="en-US" dirty="0" smtClean="0"/>
          </a:p>
          <a:p>
            <a:pPr marL="0" indent="0">
              <a:buNone/>
            </a:pPr>
            <a:r>
              <a:rPr lang="en-US" dirty="0" smtClean="0"/>
              <a:t>WHERE </a:t>
            </a:r>
            <a:r>
              <a:rPr lang="en-US" dirty="0" err="1" smtClean="0"/>
              <a:t>a.status</a:t>
            </a:r>
            <a:r>
              <a:rPr lang="en-US" dirty="0" smtClean="0"/>
              <a:t> = 'Pending';</a:t>
            </a:r>
          </a:p>
          <a:p>
            <a:pPr marL="0" indent="0">
              <a:buNone/>
            </a:pPr>
            <a:endParaRPr lang="en-US" dirty="0" smtClean="0"/>
          </a:p>
          <a:p>
            <a:pPr marL="0" indent="0">
              <a:buNone/>
            </a:pPr>
            <a:r>
              <a:rPr lang="en-US" b="1" dirty="0" smtClean="0"/>
              <a:t>Insight:</a:t>
            </a:r>
            <a:r>
              <a:rPr lang="en-US" dirty="0" smtClean="0"/>
              <a:t> These patients need follow-up reminders to reduce no-shows.</a:t>
            </a:r>
          </a:p>
          <a:p>
            <a:pPr marL="0" indent="0">
              <a:buNone/>
            </a:pP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641" t="22958"/>
          <a:stretch/>
        </p:blipFill>
        <p:spPr>
          <a:xfrm>
            <a:off x="8396654" y="2567353"/>
            <a:ext cx="2614246" cy="1152263"/>
          </a:xfrm>
          <a:prstGeom prst="rect">
            <a:avLst/>
          </a:prstGeom>
        </p:spPr>
      </p:pic>
    </p:spTree>
    <p:extLst>
      <p:ext uri="{BB962C8B-B14F-4D97-AF65-F5344CB8AC3E}">
        <p14:creationId xmlns:p14="http://schemas.microsoft.com/office/powerpoint/2010/main" val="3442458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835269"/>
          </a:xfrm>
        </p:spPr>
        <p:txBody>
          <a:bodyPr/>
          <a:lstStyle/>
          <a:p>
            <a:r>
              <a:rPr lang="en-US" dirty="0" smtClean="0"/>
              <a:t>Q8. Average treatment cost</a:t>
            </a:r>
            <a:endParaRPr lang="en-US" dirty="0"/>
          </a:p>
        </p:txBody>
      </p:sp>
      <p:sp>
        <p:nvSpPr>
          <p:cNvPr id="3" name="Content Placeholder 2"/>
          <p:cNvSpPr>
            <a:spLocks noGrp="1"/>
          </p:cNvSpPr>
          <p:nvPr>
            <p:ph idx="1"/>
          </p:nvPr>
        </p:nvSpPr>
        <p:spPr>
          <a:xfrm>
            <a:off x="1484309" y="1969477"/>
            <a:ext cx="10018713" cy="2731478"/>
          </a:xfrm>
        </p:spPr>
        <p:txBody>
          <a:bodyPr/>
          <a:lstStyle/>
          <a:p>
            <a:r>
              <a:rPr lang="en-US" b="1" dirty="0" smtClean="0"/>
              <a:t>Query:</a:t>
            </a:r>
          </a:p>
          <a:p>
            <a:pPr marL="0" indent="0">
              <a:buNone/>
            </a:pPr>
            <a:r>
              <a:rPr lang="en-US" dirty="0" smtClean="0"/>
              <a:t>SELECT ROUND(AVG(</a:t>
            </a:r>
            <a:r>
              <a:rPr lang="en-US" dirty="0" err="1" smtClean="0"/>
              <a:t>treatment_cost</a:t>
            </a:r>
            <a:r>
              <a:rPr lang="en-US" dirty="0" smtClean="0"/>
              <a:t>),2) AS </a:t>
            </a:r>
            <a:r>
              <a:rPr lang="en-US" dirty="0" err="1" smtClean="0"/>
              <a:t>avg_treatment_cost</a:t>
            </a:r>
            <a:endParaRPr lang="en-US" dirty="0" smtClean="0"/>
          </a:p>
          <a:p>
            <a:pPr marL="0" indent="0">
              <a:buNone/>
            </a:pPr>
            <a:r>
              <a:rPr lang="en-US" dirty="0" smtClean="0"/>
              <a:t>FROM Treatments;</a:t>
            </a:r>
          </a:p>
          <a:p>
            <a:endParaRPr lang="en-US" dirty="0"/>
          </a:p>
          <a:p>
            <a:pPr marL="0" indent="0">
              <a:buNone/>
            </a:pPr>
            <a:r>
              <a:rPr lang="en-US" b="1" dirty="0" smtClean="0"/>
              <a:t>Insight:</a:t>
            </a:r>
            <a:r>
              <a:rPr lang="en-US" dirty="0" smtClean="0"/>
              <a:t> Helps hospital review pricing and affordability.</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994" t="41211" b="-1"/>
          <a:stretch/>
        </p:blipFill>
        <p:spPr>
          <a:xfrm>
            <a:off x="6493665" y="3077307"/>
            <a:ext cx="2119442" cy="826476"/>
          </a:xfrm>
          <a:prstGeom prst="rect">
            <a:avLst/>
          </a:prstGeom>
        </p:spPr>
      </p:pic>
    </p:spTree>
    <p:extLst>
      <p:ext uri="{BB962C8B-B14F-4D97-AF65-F5344CB8AC3E}">
        <p14:creationId xmlns:p14="http://schemas.microsoft.com/office/powerpoint/2010/main" val="128347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82515"/>
          </a:xfrm>
        </p:spPr>
        <p:txBody>
          <a:bodyPr/>
          <a:lstStyle/>
          <a:p>
            <a:r>
              <a:rPr lang="en-US" dirty="0" smtClean="0"/>
              <a:t>Q9. Total revenue generated</a:t>
            </a:r>
            <a:endParaRPr lang="en-US" dirty="0"/>
          </a:p>
        </p:txBody>
      </p:sp>
      <p:sp>
        <p:nvSpPr>
          <p:cNvPr id="3" name="Content Placeholder 2"/>
          <p:cNvSpPr>
            <a:spLocks noGrp="1"/>
          </p:cNvSpPr>
          <p:nvPr>
            <p:ph idx="1"/>
          </p:nvPr>
        </p:nvSpPr>
        <p:spPr>
          <a:xfrm>
            <a:off x="1484311" y="1828799"/>
            <a:ext cx="10018713" cy="2814115"/>
          </a:xfrm>
        </p:spPr>
        <p:txBody>
          <a:bodyPr/>
          <a:lstStyle/>
          <a:p>
            <a:r>
              <a:rPr lang="en-US" b="1" dirty="0" smtClean="0"/>
              <a:t>Query:</a:t>
            </a:r>
          </a:p>
          <a:p>
            <a:pPr marL="0" indent="0">
              <a:buNone/>
            </a:pPr>
            <a:r>
              <a:rPr lang="en-US" dirty="0" smtClean="0"/>
              <a:t>SELECT SUM(amount) AS </a:t>
            </a:r>
            <a:r>
              <a:rPr lang="en-US" dirty="0" err="1" smtClean="0"/>
              <a:t>total_revenue</a:t>
            </a:r>
            <a:endParaRPr lang="en-US" dirty="0" smtClean="0"/>
          </a:p>
          <a:p>
            <a:pPr marL="0" indent="0">
              <a:buNone/>
            </a:pPr>
            <a:r>
              <a:rPr lang="en-US" dirty="0" smtClean="0"/>
              <a:t>FROM Payments;</a:t>
            </a:r>
          </a:p>
          <a:p>
            <a:pPr marL="0" indent="0">
              <a:buNone/>
            </a:pPr>
            <a:endParaRPr lang="en-US" dirty="0"/>
          </a:p>
          <a:p>
            <a:pPr marL="0" indent="0">
              <a:buNone/>
            </a:pPr>
            <a:r>
              <a:rPr lang="en-US" b="1" dirty="0" smtClean="0"/>
              <a:t>Insight:</a:t>
            </a:r>
            <a:r>
              <a:rPr lang="en-US" dirty="0" smtClean="0"/>
              <a:t> Indicates overall financial performance of the hospital.</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4480" t="8325" r="3966"/>
          <a:stretch/>
        </p:blipFill>
        <p:spPr>
          <a:xfrm>
            <a:off x="7288824" y="2602523"/>
            <a:ext cx="2435469" cy="1065025"/>
          </a:xfrm>
          <a:prstGeom prst="rect">
            <a:avLst/>
          </a:prstGeom>
        </p:spPr>
      </p:pic>
    </p:spTree>
    <p:extLst>
      <p:ext uri="{BB962C8B-B14F-4D97-AF65-F5344CB8AC3E}">
        <p14:creationId xmlns:p14="http://schemas.microsoft.com/office/powerpoint/2010/main" val="17852610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434548"/>
            <a:ext cx="10018713" cy="905608"/>
          </a:xfrm>
        </p:spPr>
        <p:txBody>
          <a:bodyPr/>
          <a:lstStyle/>
          <a:p>
            <a:r>
              <a:rPr lang="en-US" dirty="0" smtClean="0"/>
              <a:t>Q10. Payment mode analysis</a:t>
            </a:r>
            <a:endParaRPr lang="en-US" dirty="0"/>
          </a:p>
        </p:txBody>
      </p:sp>
      <p:sp>
        <p:nvSpPr>
          <p:cNvPr id="3" name="Content Placeholder 2"/>
          <p:cNvSpPr>
            <a:spLocks noGrp="1"/>
          </p:cNvSpPr>
          <p:nvPr>
            <p:ph idx="1"/>
          </p:nvPr>
        </p:nvSpPr>
        <p:spPr>
          <a:xfrm>
            <a:off x="1484310" y="1567961"/>
            <a:ext cx="10018713" cy="3124201"/>
          </a:xfrm>
        </p:spPr>
        <p:txBody>
          <a:bodyPr>
            <a:normAutofit fontScale="92500"/>
          </a:bodyPr>
          <a:lstStyle/>
          <a:p>
            <a:r>
              <a:rPr lang="en-US" b="1" dirty="0" smtClean="0"/>
              <a:t>Query:</a:t>
            </a:r>
          </a:p>
          <a:p>
            <a:pPr marL="0" indent="0">
              <a:buNone/>
            </a:pPr>
            <a:r>
              <a:rPr lang="en-US" dirty="0" smtClean="0"/>
              <a:t>SELECT </a:t>
            </a:r>
            <a:r>
              <a:rPr lang="en-US" dirty="0" err="1" smtClean="0"/>
              <a:t>payment_mode</a:t>
            </a:r>
            <a:r>
              <a:rPr lang="en-US" dirty="0" smtClean="0"/>
              <a:t>, COUNT(*) AS </a:t>
            </a:r>
            <a:r>
              <a:rPr lang="en-US" dirty="0" err="1" smtClean="0"/>
              <a:t>total_payments</a:t>
            </a:r>
            <a:endParaRPr lang="en-US" dirty="0" smtClean="0"/>
          </a:p>
          <a:p>
            <a:pPr marL="0" indent="0">
              <a:buNone/>
            </a:pPr>
            <a:r>
              <a:rPr lang="en-US" dirty="0" smtClean="0"/>
              <a:t>FROM Bills</a:t>
            </a:r>
          </a:p>
          <a:p>
            <a:pPr marL="0" indent="0">
              <a:buNone/>
            </a:pPr>
            <a:r>
              <a:rPr lang="en-US" dirty="0" smtClean="0"/>
              <a:t>GROUP BY </a:t>
            </a:r>
            <a:r>
              <a:rPr lang="en-US" dirty="0" err="1" smtClean="0"/>
              <a:t>payment_mode</a:t>
            </a:r>
            <a:r>
              <a:rPr lang="en-US" dirty="0" smtClean="0"/>
              <a:t>;</a:t>
            </a:r>
          </a:p>
          <a:p>
            <a:pPr marL="0" indent="0">
              <a:buNone/>
            </a:pPr>
            <a:endParaRPr lang="en-US" dirty="0" smtClean="0"/>
          </a:p>
          <a:p>
            <a:r>
              <a:rPr lang="en-US" b="1" dirty="0" smtClean="0"/>
              <a:t>Insight:</a:t>
            </a:r>
            <a:r>
              <a:rPr lang="en-US" dirty="0" smtClean="0"/>
              <a:t> Digital payments dominate. Cashless systems should be promoted further.</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3909" t="27416"/>
          <a:stretch/>
        </p:blipFill>
        <p:spPr>
          <a:xfrm>
            <a:off x="8124092" y="2694445"/>
            <a:ext cx="2517346" cy="871232"/>
          </a:xfrm>
          <a:prstGeom prst="rect">
            <a:avLst/>
          </a:prstGeom>
        </p:spPr>
      </p:pic>
    </p:spTree>
    <p:extLst>
      <p:ext uri="{BB962C8B-B14F-4D97-AF65-F5344CB8AC3E}">
        <p14:creationId xmlns:p14="http://schemas.microsoft.com/office/powerpoint/2010/main" val="1121444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1028700"/>
          </a:xfrm>
        </p:spPr>
        <p:txBody>
          <a:bodyPr>
            <a:normAutofit/>
          </a:bodyPr>
          <a:lstStyle/>
          <a:p>
            <a:r>
              <a:rPr lang="en-US" dirty="0" smtClean="0"/>
              <a:t>Q11. High-value patients (bill &gt; 4000)</a:t>
            </a:r>
            <a:endParaRPr lang="en-US" dirty="0"/>
          </a:p>
        </p:txBody>
      </p:sp>
      <p:sp>
        <p:nvSpPr>
          <p:cNvPr id="3" name="Content Placeholder 2"/>
          <p:cNvSpPr>
            <a:spLocks noGrp="1"/>
          </p:cNvSpPr>
          <p:nvPr>
            <p:ph idx="1"/>
          </p:nvPr>
        </p:nvSpPr>
        <p:spPr>
          <a:xfrm>
            <a:off x="1484311" y="1972407"/>
            <a:ext cx="10018713" cy="3124201"/>
          </a:xfrm>
        </p:spPr>
        <p:txBody>
          <a:bodyPr>
            <a:normAutofit fontScale="92500" lnSpcReduction="10000"/>
          </a:bodyPr>
          <a:lstStyle/>
          <a:p>
            <a:r>
              <a:rPr lang="en-US" b="1" dirty="0" smtClean="0"/>
              <a:t>Query:</a:t>
            </a:r>
          </a:p>
          <a:p>
            <a:pPr marL="0" indent="0">
              <a:buNone/>
            </a:pPr>
            <a:r>
              <a:rPr lang="en-US" dirty="0" smtClean="0"/>
              <a:t>SELECT </a:t>
            </a:r>
            <a:r>
              <a:rPr lang="en-US" dirty="0" err="1" smtClean="0"/>
              <a:t>p.patient_name</a:t>
            </a:r>
            <a:r>
              <a:rPr lang="en-US" dirty="0" smtClean="0"/>
              <a:t>, </a:t>
            </a:r>
            <a:r>
              <a:rPr lang="en-US" dirty="0" err="1" smtClean="0"/>
              <a:t>b.total_amount</a:t>
            </a:r>
            <a:endParaRPr lang="en-US" dirty="0" smtClean="0"/>
          </a:p>
          <a:p>
            <a:pPr marL="0" indent="0">
              <a:buNone/>
            </a:pPr>
            <a:r>
              <a:rPr lang="en-US" dirty="0" smtClean="0"/>
              <a:t>FROM Patients p</a:t>
            </a:r>
          </a:p>
          <a:p>
            <a:pPr marL="0" indent="0">
              <a:buNone/>
            </a:pPr>
            <a:r>
              <a:rPr lang="en-US" dirty="0" smtClean="0"/>
              <a:t>JOIN Bills b ON </a:t>
            </a:r>
            <a:r>
              <a:rPr lang="en-US" dirty="0" err="1" smtClean="0"/>
              <a:t>p.patient_id</a:t>
            </a:r>
            <a:r>
              <a:rPr lang="en-US" dirty="0" smtClean="0"/>
              <a:t> = </a:t>
            </a:r>
            <a:r>
              <a:rPr lang="en-US" dirty="0" err="1" smtClean="0"/>
              <a:t>b.patient_id</a:t>
            </a:r>
            <a:endParaRPr lang="en-US" dirty="0" smtClean="0"/>
          </a:p>
          <a:p>
            <a:pPr marL="0" indent="0">
              <a:buNone/>
            </a:pPr>
            <a:r>
              <a:rPr lang="en-US" dirty="0" smtClean="0"/>
              <a:t>WHERE </a:t>
            </a:r>
            <a:r>
              <a:rPr lang="en-US" dirty="0" err="1" smtClean="0"/>
              <a:t>b.total_amount</a:t>
            </a:r>
            <a:r>
              <a:rPr lang="en-US" dirty="0" smtClean="0"/>
              <a:t> &gt; 4000;</a:t>
            </a:r>
          </a:p>
          <a:p>
            <a:pPr marL="0" indent="0">
              <a:buNone/>
            </a:pPr>
            <a:endParaRPr lang="en-US" dirty="0" smtClean="0"/>
          </a:p>
          <a:p>
            <a:r>
              <a:rPr lang="en-US" b="1" dirty="0" smtClean="0"/>
              <a:t>Insight:</a:t>
            </a:r>
            <a:r>
              <a:rPr lang="en-US" dirty="0" smtClean="0"/>
              <a:t> High-value patients can be offered loyalty or premium care plans.</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3151" t="30550" r="-1"/>
          <a:stretch/>
        </p:blipFill>
        <p:spPr>
          <a:xfrm>
            <a:off x="8062547" y="3081306"/>
            <a:ext cx="2223514" cy="906402"/>
          </a:xfrm>
          <a:prstGeom prst="rect">
            <a:avLst/>
          </a:prstGeom>
        </p:spPr>
      </p:pic>
    </p:spTree>
    <p:extLst>
      <p:ext uri="{BB962C8B-B14F-4D97-AF65-F5344CB8AC3E}">
        <p14:creationId xmlns:p14="http://schemas.microsoft.com/office/powerpoint/2010/main" val="3962682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1019908"/>
          </a:xfrm>
        </p:spPr>
        <p:txBody>
          <a:bodyPr>
            <a:normAutofit/>
          </a:bodyPr>
          <a:lstStyle/>
          <a:p>
            <a:r>
              <a:rPr lang="en-US" dirty="0" smtClean="0"/>
              <a:t>Q12. Doctor-wise consultation revenue</a:t>
            </a:r>
            <a:endParaRPr lang="en-US" dirty="0"/>
          </a:p>
        </p:txBody>
      </p:sp>
      <p:sp>
        <p:nvSpPr>
          <p:cNvPr id="3" name="Content Placeholder 2"/>
          <p:cNvSpPr>
            <a:spLocks noGrp="1"/>
          </p:cNvSpPr>
          <p:nvPr>
            <p:ph idx="1"/>
          </p:nvPr>
        </p:nvSpPr>
        <p:spPr>
          <a:xfrm>
            <a:off x="1484311" y="1884484"/>
            <a:ext cx="10018713" cy="4041531"/>
          </a:xfrm>
        </p:spPr>
        <p:txBody>
          <a:bodyPr>
            <a:normAutofit fontScale="92500" lnSpcReduction="10000"/>
          </a:bodyPr>
          <a:lstStyle/>
          <a:p>
            <a:r>
              <a:rPr lang="en-US" b="1" dirty="0" smtClean="0"/>
              <a:t>Query:</a:t>
            </a:r>
          </a:p>
          <a:p>
            <a:pPr marL="0" indent="0">
              <a:buNone/>
            </a:pPr>
            <a:r>
              <a:rPr lang="en-US" dirty="0" smtClean="0"/>
              <a:t>SELECT </a:t>
            </a:r>
            <a:r>
              <a:rPr lang="en-US" dirty="0" err="1" smtClean="0"/>
              <a:t>d.doctor_name</a:t>
            </a:r>
            <a:r>
              <a:rPr lang="en-US" dirty="0" smtClean="0"/>
              <a:t>,</a:t>
            </a:r>
          </a:p>
          <a:p>
            <a:pPr marL="0" indent="0">
              <a:buNone/>
            </a:pPr>
            <a:r>
              <a:rPr lang="en-US" dirty="0" smtClean="0"/>
              <a:t>       COUNT(</a:t>
            </a:r>
            <a:r>
              <a:rPr lang="en-US" dirty="0" err="1" smtClean="0"/>
              <a:t>a.appointment_id</a:t>
            </a:r>
            <a:r>
              <a:rPr lang="en-US" dirty="0" smtClean="0"/>
              <a:t>) * </a:t>
            </a:r>
            <a:r>
              <a:rPr lang="en-US" dirty="0" err="1" smtClean="0"/>
              <a:t>d.consultation_fee</a:t>
            </a:r>
            <a:r>
              <a:rPr lang="en-US" dirty="0" smtClean="0"/>
              <a:t> AS </a:t>
            </a:r>
            <a:r>
              <a:rPr lang="en-US" dirty="0" err="1" smtClean="0"/>
              <a:t>consultation_revenue</a:t>
            </a:r>
            <a:endParaRPr lang="en-US" dirty="0" smtClean="0"/>
          </a:p>
          <a:p>
            <a:pPr marL="0" indent="0">
              <a:buNone/>
            </a:pPr>
            <a:r>
              <a:rPr lang="en-US" dirty="0" smtClean="0"/>
              <a:t>FROM Doctors d</a:t>
            </a:r>
          </a:p>
          <a:p>
            <a:pPr marL="0" indent="0">
              <a:buNone/>
            </a:pPr>
            <a:r>
              <a:rPr lang="en-US" dirty="0" smtClean="0"/>
              <a:t>JOIN Appointments a ON </a:t>
            </a:r>
            <a:r>
              <a:rPr lang="en-US" dirty="0" err="1" smtClean="0"/>
              <a:t>d.doctor_id</a:t>
            </a:r>
            <a:r>
              <a:rPr lang="en-US" dirty="0" smtClean="0"/>
              <a:t> = </a:t>
            </a:r>
            <a:r>
              <a:rPr lang="en-US" dirty="0" err="1" smtClean="0"/>
              <a:t>a.doctor_id</a:t>
            </a:r>
            <a:endParaRPr lang="en-US" dirty="0" smtClean="0"/>
          </a:p>
          <a:p>
            <a:pPr marL="0" indent="0">
              <a:buNone/>
            </a:pPr>
            <a:r>
              <a:rPr lang="en-US" dirty="0" smtClean="0"/>
              <a:t>GROUP BY </a:t>
            </a:r>
            <a:r>
              <a:rPr lang="en-US" dirty="0" err="1" smtClean="0"/>
              <a:t>d.doctor_name</a:t>
            </a:r>
            <a:r>
              <a:rPr lang="en-US" dirty="0" smtClean="0"/>
              <a:t>, </a:t>
            </a:r>
            <a:r>
              <a:rPr lang="en-US" dirty="0" err="1" smtClean="0"/>
              <a:t>d.consultation_fee</a:t>
            </a:r>
            <a:endParaRPr lang="en-US" dirty="0" smtClean="0"/>
          </a:p>
          <a:p>
            <a:pPr marL="0" indent="0">
              <a:buNone/>
            </a:pPr>
            <a:r>
              <a:rPr lang="en-US" dirty="0" smtClean="0"/>
              <a:t>ORDER BY </a:t>
            </a:r>
            <a:r>
              <a:rPr lang="en-US" dirty="0" err="1" smtClean="0"/>
              <a:t>consultation_revenue</a:t>
            </a:r>
            <a:r>
              <a:rPr lang="en-US" dirty="0" smtClean="0"/>
              <a:t> DESC;</a:t>
            </a:r>
          </a:p>
          <a:p>
            <a:pPr marL="0" indent="0">
              <a:buNone/>
            </a:pPr>
            <a:endParaRPr lang="en-US" dirty="0" smtClean="0"/>
          </a:p>
          <a:p>
            <a:pPr marL="0" indent="0">
              <a:buNone/>
            </a:pPr>
            <a:r>
              <a:rPr lang="en-US" b="1" dirty="0" smtClean="0"/>
              <a:t>Insight:</a:t>
            </a:r>
            <a:r>
              <a:rPr lang="en-US" dirty="0" smtClean="0"/>
              <a:t> Identifies top revenue-generating doctors.</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17159" r="1715"/>
          <a:stretch/>
        </p:blipFill>
        <p:spPr>
          <a:xfrm>
            <a:off x="8610953" y="3262073"/>
            <a:ext cx="2687164" cy="1286351"/>
          </a:xfrm>
          <a:prstGeom prst="rect">
            <a:avLst/>
          </a:prstGeom>
        </p:spPr>
      </p:pic>
    </p:spTree>
    <p:extLst>
      <p:ext uri="{BB962C8B-B14F-4D97-AF65-F5344CB8AC3E}">
        <p14:creationId xmlns:p14="http://schemas.microsoft.com/office/powerpoint/2010/main" val="39799678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896815"/>
          </a:xfrm>
        </p:spPr>
        <p:txBody>
          <a:bodyPr/>
          <a:lstStyle/>
          <a:p>
            <a:r>
              <a:rPr lang="en-US" dirty="0" smtClean="0"/>
              <a:t>Q13. Patient age group analysis</a:t>
            </a:r>
            <a:endParaRPr lang="en-US" dirty="0"/>
          </a:p>
        </p:txBody>
      </p:sp>
      <p:sp>
        <p:nvSpPr>
          <p:cNvPr id="3" name="Content Placeholder 2"/>
          <p:cNvSpPr>
            <a:spLocks noGrp="1"/>
          </p:cNvSpPr>
          <p:nvPr>
            <p:ph idx="1"/>
          </p:nvPr>
        </p:nvSpPr>
        <p:spPr>
          <a:xfrm>
            <a:off x="1484310" y="1582615"/>
            <a:ext cx="10018713" cy="4208585"/>
          </a:xfrm>
        </p:spPr>
        <p:txBody>
          <a:bodyPr>
            <a:normAutofit fontScale="77500" lnSpcReduction="20000"/>
          </a:bodyPr>
          <a:lstStyle/>
          <a:p>
            <a:pPr marL="0" indent="0">
              <a:buNone/>
            </a:pPr>
            <a:r>
              <a:rPr lang="en-US" sz="3800" b="1" dirty="0" smtClean="0"/>
              <a:t>Query:</a:t>
            </a:r>
          </a:p>
          <a:p>
            <a:pPr marL="0" indent="0">
              <a:buNone/>
            </a:pPr>
            <a:r>
              <a:rPr lang="en-US" dirty="0" smtClean="0"/>
              <a:t>SELECT CASE</a:t>
            </a:r>
          </a:p>
          <a:p>
            <a:pPr marL="0" indent="0">
              <a:buNone/>
            </a:pPr>
            <a:r>
              <a:rPr lang="en-US" dirty="0" smtClean="0"/>
              <a:t>   WHEN age &lt; 18 THEN 'Child'</a:t>
            </a:r>
          </a:p>
          <a:p>
            <a:pPr marL="0" indent="0">
              <a:buNone/>
            </a:pPr>
            <a:r>
              <a:rPr lang="en-US" dirty="0" smtClean="0"/>
              <a:t>   WHEN age BETWEEN 18 AND 40 THEN 'Adult‘</a:t>
            </a:r>
          </a:p>
          <a:p>
            <a:pPr marL="0" indent="0">
              <a:buNone/>
            </a:pPr>
            <a:r>
              <a:rPr lang="en-US" dirty="0" smtClean="0"/>
              <a:t>   WHEN age BETWEEN 41 AND 60 THEN 'Middle Age'</a:t>
            </a:r>
          </a:p>
          <a:p>
            <a:pPr marL="0" indent="0">
              <a:buNone/>
            </a:pPr>
            <a:r>
              <a:rPr lang="en-US" dirty="0"/>
              <a:t> </a:t>
            </a:r>
            <a:r>
              <a:rPr lang="en-US" dirty="0" smtClean="0"/>
              <a:t>  ELSE 'Senior‘ END AS </a:t>
            </a:r>
            <a:r>
              <a:rPr lang="en-US" dirty="0" err="1" smtClean="0"/>
              <a:t>age_group</a:t>
            </a:r>
            <a:r>
              <a:rPr lang="en-US" dirty="0" smtClean="0"/>
              <a:t>,</a:t>
            </a:r>
          </a:p>
          <a:p>
            <a:pPr marL="0" indent="0">
              <a:buNone/>
            </a:pPr>
            <a:r>
              <a:rPr lang="en-US" dirty="0" smtClean="0"/>
              <a:t>COUNT(*) AS </a:t>
            </a:r>
            <a:r>
              <a:rPr lang="en-US" dirty="0" err="1" smtClean="0"/>
              <a:t>total_patients</a:t>
            </a:r>
            <a:endParaRPr lang="en-US" dirty="0" smtClean="0"/>
          </a:p>
          <a:p>
            <a:pPr marL="0" indent="0">
              <a:buNone/>
            </a:pPr>
            <a:r>
              <a:rPr lang="en-US" dirty="0" smtClean="0"/>
              <a:t>FROM Patients</a:t>
            </a:r>
          </a:p>
          <a:p>
            <a:pPr marL="0" indent="0">
              <a:buNone/>
            </a:pPr>
            <a:r>
              <a:rPr lang="en-US" dirty="0" smtClean="0"/>
              <a:t>GROUP BY </a:t>
            </a:r>
            <a:r>
              <a:rPr lang="en-US" dirty="0" err="1" smtClean="0"/>
              <a:t>age_group</a:t>
            </a:r>
            <a:r>
              <a:rPr lang="en-US" dirty="0" smtClean="0"/>
              <a:t>;</a:t>
            </a:r>
          </a:p>
          <a:p>
            <a:pPr marL="0" indent="0">
              <a:buNone/>
            </a:pPr>
            <a:endParaRPr lang="en-US" dirty="0" smtClean="0"/>
          </a:p>
          <a:p>
            <a:r>
              <a:rPr lang="en-US" b="1" dirty="0" smtClean="0"/>
              <a:t>Insight:</a:t>
            </a:r>
            <a:r>
              <a:rPr lang="en-US" dirty="0" smtClean="0"/>
              <a:t> Adult patients form the majority. Preventive care programs can target this group.</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970" t="23021"/>
          <a:stretch/>
        </p:blipFill>
        <p:spPr>
          <a:xfrm>
            <a:off x="7772401" y="3224914"/>
            <a:ext cx="2213254" cy="923986"/>
          </a:xfrm>
          <a:prstGeom prst="rect">
            <a:avLst/>
          </a:prstGeom>
        </p:spPr>
      </p:pic>
    </p:spTree>
    <p:extLst>
      <p:ext uri="{BB962C8B-B14F-4D97-AF65-F5344CB8AC3E}">
        <p14:creationId xmlns:p14="http://schemas.microsoft.com/office/powerpoint/2010/main" val="2590033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888023"/>
          </a:xfrm>
        </p:spPr>
        <p:txBody>
          <a:bodyPr/>
          <a:lstStyle/>
          <a:p>
            <a:r>
              <a:rPr lang="en-US" dirty="0" smtClean="0"/>
              <a:t>Q14. Patients without treatments</a:t>
            </a:r>
            <a:endParaRPr lang="en-US" dirty="0"/>
          </a:p>
        </p:txBody>
      </p:sp>
      <p:sp>
        <p:nvSpPr>
          <p:cNvPr id="3" name="Content Placeholder 2"/>
          <p:cNvSpPr>
            <a:spLocks noGrp="1"/>
          </p:cNvSpPr>
          <p:nvPr>
            <p:ph idx="1"/>
          </p:nvPr>
        </p:nvSpPr>
        <p:spPr>
          <a:xfrm>
            <a:off x="1484311" y="1717430"/>
            <a:ext cx="10018713" cy="4103078"/>
          </a:xfrm>
        </p:spPr>
        <p:txBody>
          <a:bodyPr>
            <a:normAutofit/>
          </a:bodyPr>
          <a:lstStyle/>
          <a:p>
            <a:r>
              <a:rPr lang="en-US" sz="2400" b="1" dirty="0" smtClean="0"/>
              <a:t>Query:</a:t>
            </a:r>
            <a:endParaRPr lang="en-US" sz="2400" dirty="0" smtClean="0"/>
          </a:p>
          <a:p>
            <a:pPr marL="0" indent="0">
              <a:buNone/>
            </a:pPr>
            <a:r>
              <a:rPr lang="en-US" sz="2000" dirty="0" smtClean="0"/>
              <a:t>SELECT </a:t>
            </a:r>
            <a:r>
              <a:rPr lang="en-US" sz="2000" dirty="0" err="1" smtClean="0"/>
              <a:t>p.patient_name</a:t>
            </a:r>
            <a:r>
              <a:rPr lang="en-US" sz="2000" dirty="0" smtClean="0"/>
              <a:t>, </a:t>
            </a:r>
            <a:r>
              <a:rPr lang="en-US" sz="2000" dirty="0" err="1" smtClean="0"/>
              <a:t>a.status</a:t>
            </a:r>
            <a:endParaRPr lang="en-US" sz="2000" dirty="0" smtClean="0"/>
          </a:p>
          <a:p>
            <a:pPr marL="0" indent="0">
              <a:buNone/>
            </a:pPr>
            <a:r>
              <a:rPr lang="en-US" sz="2000" dirty="0" smtClean="0"/>
              <a:t>FROM Patients p</a:t>
            </a:r>
          </a:p>
          <a:p>
            <a:pPr marL="0" indent="0">
              <a:buNone/>
            </a:pPr>
            <a:r>
              <a:rPr lang="en-US" sz="2000" dirty="0" smtClean="0"/>
              <a:t>JOIN Appointments a ON </a:t>
            </a:r>
            <a:r>
              <a:rPr lang="en-US" sz="2000" dirty="0" err="1" smtClean="0"/>
              <a:t>p.patient_id</a:t>
            </a:r>
            <a:r>
              <a:rPr lang="en-US" sz="2000" dirty="0" smtClean="0"/>
              <a:t> = </a:t>
            </a:r>
            <a:r>
              <a:rPr lang="en-US" sz="2000" dirty="0" err="1" smtClean="0"/>
              <a:t>a.patient_id</a:t>
            </a:r>
            <a:endParaRPr lang="en-US" sz="2000" dirty="0" smtClean="0"/>
          </a:p>
          <a:p>
            <a:pPr marL="0" indent="0">
              <a:buNone/>
            </a:pPr>
            <a:r>
              <a:rPr lang="en-US" sz="2000" dirty="0" smtClean="0"/>
              <a:t>LEFT JOIN Treatments t ON </a:t>
            </a:r>
            <a:r>
              <a:rPr lang="en-US" sz="2000" dirty="0" err="1" smtClean="0"/>
              <a:t>a.appointment_id</a:t>
            </a:r>
            <a:r>
              <a:rPr lang="en-US" sz="2000" dirty="0" smtClean="0"/>
              <a:t> = </a:t>
            </a:r>
            <a:r>
              <a:rPr lang="en-US" sz="2000" dirty="0" err="1" smtClean="0"/>
              <a:t>t.appointment_id</a:t>
            </a:r>
            <a:endParaRPr lang="en-US" sz="2000" dirty="0" smtClean="0"/>
          </a:p>
          <a:p>
            <a:pPr marL="0" indent="0">
              <a:buNone/>
            </a:pPr>
            <a:r>
              <a:rPr lang="en-US" sz="2000" dirty="0" smtClean="0"/>
              <a:t>WHERE </a:t>
            </a:r>
            <a:r>
              <a:rPr lang="en-US" sz="2000" dirty="0" err="1" smtClean="0"/>
              <a:t>t.treatment_id</a:t>
            </a:r>
            <a:r>
              <a:rPr lang="en-US" sz="2000" dirty="0" smtClean="0"/>
              <a:t> IS NULL;</a:t>
            </a:r>
          </a:p>
          <a:p>
            <a:endParaRPr lang="en-US" dirty="0"/>
          </a:p>
          <a:p>
            <a:r>
              <a:rPr lang="en-US" b="1" dirty="0" smtClean="0"/>
              <a:t>Insight:</a:t>
            </a:r>
            <a:r>
              <a:rPr lang="en-US" dirty="0" smtClean="0"/>
              <a:t> Highlights incomplete care cases that need attention.</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22370" b="5323"/>
          <a:stretch/>
        </p:blipFill>
        <p:spPr>
          <a:xfrm>
            <a:off x="8848223" y="3157903"/>
            <a:ext cx="2405930" cy="1222131"/>
          </a:xfrm>
          <a:prstGeom prst="rect">
            <a:avLst/>
          </a:prstGeom>
        </p:spPr>
      </p:pic>
    </p:spTree>
    <p:extLst>
      <p:ext uri="{BB962C8B-B14F-4D97-AF65-F5344CB8AC3E}">
        <p14:creationId xmlns:p14="http://schemas.microsoft.com/office/powerpoint/2010/main" val="41849722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835269"/>
          </a:xfrm>
        </p:spPr>
        <p:txBody>
          <a:bodyPr/>
          <a:lstStyle/>
          <a:p>
            <a:r>
              <a:rPr lang="en-US" dirty="0" smtClean="0"/>
              <a:t>Q15. Monthly revenue trend</a:t>
            </a:r>
            <a:endParaRPr lang="en-US" dirty="0"/>
          </a:p>
        </p:txBody>
      </p:sp>
      <p:sp>
        <p:nvSpPr>
          <p:cNvPr id="3" name="Content Placeholder 2"/>
          <p:cNvSpPr>
            <a:spLocks noGrp="1"/>
          </p:cNvSpPr>
          <p:nvPr>
            <p:ph idx="1"/>
          </p:nvPr>
        </p:nvSpPr>
        <p:spPr>
          <a:xfrm>
            <a:off x="1484311" y="1620714"/>
            <a:ext cx="10018713" cy="4261340"/>
          </a:xfrm>
        </p:spPr>
        <p:txBody>
          <a:bodyPr>
            <a:normAutofit/>
          </a:bodyPr>
          <a:lstStyle/>
          <a:p>
            <a:r>
              <a:rPr lang="en-US" b="1" dirty="0" smtClean="0"/>
              <a:t>Query:</a:t>
            </a:r>
            <a:endParaRPr lang="en-US" dirty="0" smtClean="0"/>
          </a:p>
          <a:p>
            <a:pPr marL="0" indent="0">
              <a:buNone/>
            </a:pPr>
            <a:r>
              <a:rPr lang="en-US" sz="2000" dirty="0" smtClean="0"/>
              <a:t>SELECT MONTH(</a:t>
            </a:r>
            <a:r>
              <a:rPr lang="en-US" sz="2000" dirty="0" err="1" smtClean="0"/>
              <a:t>payment_date</a:t>
            </a:r>
            <a:r>
              <a:rPr lang="en-US" sz="2000" dirty="0" smtClean="0"/>
              <a:t>) AS month,</a:t>
            </a:r>
          </a:p>
          <a:p>
            <a:pPr marL="0" indent="0">
              <a:buNone/>
            </a:pPr>
            <a:r>
              <a:rPr lang="en-US" sz="2000" dirty="0" smtClean="0"/>
              <a:t>       SUM(amount) AS </a:t>
            </a:r>
            <a:r>
              <a:rPr lang="en-US" sz="2000" dirty="0" err="1" smtClean="0"/>
              <a:t>monthly_revenue</a:t>
            </a:r>
            <a:endParaRPr lang="en-US" sz="2000" dirty="0" smtClean="0"/>
          </a:p>
          <a:p>
            <a:pPr marL="0" indent="0">
              <a:buNone/>
            </a:pPr>
            <a:r>
              <a:rPr lang="en-US" sz="2000" dirty="0" smtClean="0"/>
              <a:t>FROM Payments</a:t>
            </a:r>
          </a:p>
          <a:p>
            <a:pPr marL="0" indent="0">
              <a:buNone/>
            </a:pPr>
            <a:r>
              <a:rPr lang="en-US" sz="2000" dirty="0" smtClean="0"/>
              <a:t>GROUP BY MONTH(</a:t>
            </a:r>
            <a:r>
              <a:rPr lang="en-US" sz="2000" dirty="0" err="1" smtClean="0"/>
              <a:t>payment_date</a:t>
            </a:r>
            <a:r>
              <a:rPr lang="en-US" sz="2000" dirty="0" smtClean="0"/>
              <a:t>)</a:t>
            </a:r>
          </a:p>
          <a:p>
            <a:pPr marL="0" indent="0">
              <a:buNone/>
            </a:pPr>
            <a:r>
              <a:rPr lang="en-US" sz="2000" dirty="0" smtClean="0"/>
              <a:t>ORDER BY month;</a:t>
            </a:r>
          </a:p>
          <a:p>
            <a:endParaRPr lang="en-US" dirty="0" smtClean="0"/>
          </a:p>
          <a:p>
            <a:r>
              <a:rPr lang="en-US" b="1" dirty="0" smtClean="0"/>
              <a:t>Insight:</a:t>
            </a:r>
            <a:r>
              <a:rPr lang="en-US" dirty="0" smtClean="0"/>
              <a:t> Useful for tracking growth and seasonal trends.</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442" t="14962" r="7101"/>
          <a:stretch/>
        </p:blipFill>
        <p:spPr>
          <a:xfrm>
            <a:off x="7306409" y="3313930"/>
            <a:ext cx="2162908" cy="874907"/>
          </a:xfrm>
          <a:prstGeom prst="rect">
            <a:avLst/>
          </a:prstGeom>
        </p:spPr>
      </p:pic>
    </p:spTree>
    <p:extLst>
      <p:ext uri="{BB962C8B-B14F-4D97-AF65-F5344CB8AC3E}">
        <p14:creationId xmlns:p14="http://schemas.microsoft.com/office/powerpoint/2010/main" val="27679352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274885"/>
          </a:xfrm>
        </p:spPr>
        <p:txBody>
          <a:bodyPr/>
          <a:lstStyle/>
          <a:p>
            <a:r>
              <a:rPr lang="en-US" dirty="0" smtClean="0"/>
              <a:t>Overall Insights:</a:t>
            </a:r>
            <a:endParaRPr lang="en-US" dirty="0"/>
          </a:p>
        </p:txBody>
      </p:sp>
      <p:sp>
        <p:nvSpPr>
          <p:cNvPr id="3" name="Content Placeholder 2"/>
          <p:cNvSpPr>
            <a:spLocks noGrp="1"/>
          </p:cNvSpPr>
          <p:nvPr>
            <p:ph idx="1"/>
          </p:nvPr>
        </p:nvSpPr>
        <p:spPr>
          <a:xfrm>
            <a:off x="1484311" y="1960685"/>
            <a:ext cx="10018713" cy="3124201"/>
          </a:xfrm>
        </p:spPr>
        <p:txBody>
          <a:bodyPr/>
          <a:lstStyle/>
          <a:p>
            <a:r>
              <a:rPr lang="en-US" dirty="0" smtClean="0"/>
              <a:t>Cardiology and Orthopedic departments show higher patient demand</a:t>
            </a:r>
          </a:p>
          <a:p>
            <a:r>
              <a:rPr lang="en-US" dirty="0" smtClean="0"/>
              <a:t>Most payments are done through digital modes like UPI and Card</a:t>
            </a:r>
          </a:p>
          <a:p>
            <a:r>
              <a:rPr lang="en-US" dirty="0" smtClean="0"/>
              <a:t>Adult age group (18–40) forms the majority of patients</a:t>
            </a:r>
          </a:p>
          <a:p>
            <a:r>
              <a:rPr lang="en-US" dirty="0" smtClean="0"/>
              <a:t>Some appointments remain pending, indicating follow-up gaps</a:t>
            </a:r>
          </a:p>
          <a:p>
            <a:r>
              <a:rPr lang="en-US" dirty="0" smtClean="0"/>
              <a:t>Revenue generation is stable but can be improved with better service optimization</a:t>
            </a:r>
            <a:endParaRPr lang="en-US" dirty="0"/>
          </a:p>
        </p:txBody>
      </p:sp>
    </p:spTree>
    <p:extLst>
      <p:ext uri="{BB962C8B-B14F-4D97-AF65-F5344CB8AC3E}">
        <p14:creationId xmlns:p14="http://schemas.microsoft.com/office/powerpoint/2010/main" val="2022218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178169"/>
          </a:xfrm>
        </p:spPr>
        <p:txBody>
          <a:bodyPr/>
          <a:lstStyle/>
          <a:p>
            <a:r>
              <a:rPr lang="en-US" dirty="0" smtClean="0"/>
              <a:t>Recommendations:</a:t>
            </a:r>
            <a:endParaRPr lang="en-US" dirty="0"/>
          </a:p>
        </p:txBody>
      </p:sp>
      <p:sp>
        <p:nvSpPr>
          <p:cNvPr id="3" name="Content Placeholder 2"/>
          <p:cNvSpPr>
            <a:spLocks noGrp="1"/>
          </p:cNvSpPr>
          <p:nvPr>
            <p:ph idx="1"/>
          </p:nvPr>
        </p:nvSpPr>
        <p:spPr>
          <a:xfrm>
            <a:off x="1484311" y="1863969"/>
            <a:ext cx="10018713" cy="3124201"/>
          </a:xfrm>
        </p:spPr>
        <p:txBody>
          <a:bodyPr/>
          <a:lstStyle/>
          <a:p>
            <a:r>
              <a:rPr lang="en-US" dirty="0" smtClean="0"/>
              <a:t>Increase staff or slots in high-demand departments</a:t>
            </a:r>
          </a:p>
          <a:p>
            <a:r>
              <a:rPr lang="en-US" dirty="0" smtClean="0"/>
              <a:t>Introduce automated reminders for pending appointments</a:t>
            </a:r>
          </a:p>
          <a:p>
            <a:r>
              <a:rPr lang="en-US" dirty="0" smtClean="0"/>
              <a:t>Promote cashless and digital payment systems</a:t>
            </a:r>
          </a:p>
          <a:p>
            <a:r>
              <a:rPr lang="en-US" dirty="0" smtClean="0"/>
              <a:t>Offer health packages for frequent or high-value patients</a:t>
            </a:r>
          </a:p>
          <a:p>
            <a:r>
              <a:rPr lang="en-US" dirty="0" smtClean="0"/>
              <a:t>Use dashboards (Power BI) for real-time monitoring</a:t>
            </a:r>
            <a:endParaRPr lang="en-US" dirty="0"/>
          </a:p>
        </p:txBody>
      </p:sp>
    </p:spTree>
    <p:extLst>
      <p:ext uri="{BB962C8B-B14F-4D97-AF65-F5344CB8AC3E}">
        <p14:creationId xmlns:p14="http://schemas.microsoft.com/office/powerpoint/2010/main" val="12649106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055077"/>
          </a:xfrm>
        </p:spPr>
        <p:txBody>
          <a:bodyPr/>
          <a:lstStyle/>
          <a:p>
            <a:r>
              <a:rPr lang="en-US" dirty="0" smtClean="0"/>
              <a:t>Final Evaluation:</a:t>
            </a:r>
            <a:endParaRPr lang="en-US" dirty="0"/>
          </a:p>
        </p:txBody>
      </p:sp>
      <p:sp>
        <p:nvSpPr>
          <p:cNvPr id="3" name="Content Placeholder 2"/>
          <p:cNvSpPr>
            <a:spLocks noGrp="1"/>
          </p:cNvSpPr>
          <p:nvPr>
            <p:ph idx="1"/>
          </p:nvPr>
        </p:nvSpPr>
        <p:spPr>
          <a:xfrm>
            <a:off x="1484310" y="1740877"/>
            <a:ext cx="10018713" cy="3124201"/>
          </a:xfrm>
        </p:spPr>
        <p:txBody>
          <a:bodyPr/>
          <a:lstStyle/>
          <a:p>
            <a:r>
              <a:rPr lang="en-US" dirty="0" smtClean="0"/>
              <a:t>The Hospital Management System SQL project successfully demonstrates the use of relational databases and SQL queries in a real-world scenario.</a:t>
            </a:r>
          </a:p>
          <a:p>
            <a:r>
              <a:rPr lang="en-US" dirty="0" smtClean="0"/>
              <a:t>It shows how structured data storage and analysis can improve hospital efficiency, patient management, and financial </a:t>
            </a:r>
            <a:r>
              <a:rPr lang="en-US" dirty="0" err="1" smtClean="0"/>
              <a:t>tracking.T</a:t>
            </a:r>
            <a:endParaRPr lang="en-US" dirty="0" smtClean="0"/>
          </a:p>
          <a:p>
            <a:r>
              <a:rPr lang="en-US" dirty="0" smtClean="0"/>
              <a:t>his project builds a strong foundation in database design, SQL querying, and data-driven decision-making, making it suitable for academic submission and entry-level data or database roles.</a:t>
            </a:r>
            <a:endParaRPr lang="en-US" dirty="0"/>
          </a:p>
        </p:txBody>
      </p:sp>
    </p:spTree>
    <p:extLst>
      <p:ext uri="{BB962C8B-B14F-4D97-AF65-F5344CB8AC3E}">
        <p14:creationId xmlns:p14="http://schemas.microsoft.com/office/powerpoint/2010/main" val="40236849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08132" y="2549769"/>
            <a:ext cx="7016261" cy="1569660"/>
          </a:xfrm>
          <a:prstGeom prst="rect">
            <a:avLst/>
          </a:prstGeom>
          <a:noFill/>
        </p:spPr>
        <p:txBody>
          <a:bodyPr wrap="square" rtlCol="0">
            <a:spAutoFit/>
          </a:bodyPr>
          <a:lstStyle/>
          <a:p>
            <a:pPr algn="ctr"/>
            <a:r>
              <a:rPr lang="en-US" sz="9600" dirty="0" smtClean="0"/>
              <a:t>Thankyou!</a:t>
            </a:r>
            <a:endParaRPr lang="en-US" sz="9600" dirty="0"/>
          </a:p>
        </p:txBody>
      </p:sp>
    </p:spTree>
    <p:extLst>
      <p:ext uri="{BB962C8B-B14F-4D97-AF65-F5344CB8AC3E}">
        <p14:creationId xmlns:p14="http://schemas.microsoft.com/office/powerpoint/2010/main" val="5589741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docProps/app.xml><?xml version="1.0" encoding="utf-8"?>
<Properties xmlns="http://schemas.openxmlformats.org/officeDocument/2006/extended-properties" xmlns:vt="http://schemas.openxmlformats.org/officeDocument/2006/docPropsVTypes">
  <Template>TM03457496[[fn=Parallax]]</Template>
  <TotalTime>508</TotalTime>
  <Words>1677</Words>
  <Application>Microsoft Office PowerPoint</Application>
  <PresentationFormat>Widescreen</PresentationFormat>
  <Paragraphs>313</Paragraphs>
  <Slides>37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Corbel</vt:lpstr>
      <vt:lpstr>Parallax</vt:lpstr>
      <vt:lpstr>Hospital Management System </vt:lpstr>
      <vt:lpstr>Introduction:</vt:lpstr>
      <vt:lpstr>Objectives:</vt:lpstr>
      <vt:lpstr>SQL Queries:</vt:lpstr>
      <vt:lpstr>Create Patients Table:</vt:lpstr>
      <vt:lpstr>Create Doctors Table:</vt:lpstr>
      <vt:lpstr>Create Departments Table:</vt:lpstr>
      <vt:lpstr>Create Appointments Table:</vt:lpstr>
      <vt:lpstr>Create Treatments Table:</vt:lpstr>
      <vt:lpstr>Create Bills Table:</vt:lpstr>
      <vt:lpstr>Create Table Payments:</vt:lpstr>
      <vt:lpstr>Insert Into Patients:</vt:lpstr>
      <vt:lpstr>Insert into Doctors:</vt:lpstr>
      <vt:lpstr>Insert into Departments: </vt:lpstr>
      <vt:lpstr>Insert into Appointments:</vt:lpstr>
      <vt:lpstr>Insert into Treatments:</vt:lpstr>
      <vt:lpstr>Insert into Bills:</vt:lpstr>
      <vt:lpstr>Insert into Payments:</vt:lpstr>
      <vt:lpstr>Q1. Total number of patients</vt:lpstr>
      <vt:lpstr>Q2. Patients distribution by city</vt:lpstr>
      <vt:lpstr>Q3. Gender-wise patient analysis</vt:lpstr>
      <vt:lpstr>Q4. Doctor-wise appointment count</vt:lpstr>
      <vt:lpstr>Q5. Specialization-wise demand</vt:lpstr>
      <vt:lpstr>Q6. Completed vs pending appointments</vt:lpstr>
      <vt:lpstr>Q7. Patients with pending appointments</vt:lpstr>
      <vt:lpstr>Q8. Average treatment cost</vt:lpstr>
      <vt:lpstr>Q9. Total revenue generated</vt:lpstr>
      <vt:lpstr>Q10. Payment mode analysis</vt:lpstr>
      <vt:lpstr>Q11. High-value patients (bill &gt; 4000)</vt:lpstr>
      <vt:lpstr>Q12. Doctor-wise consultation revenue</vt:lpstr>
      <vt:lpstr>Q13. Patient age group analysis</vt:lpstr>
      <vt:lpstr>Q14. Patients without treatments</vt:lpstr>
      <vt:lpstr>Q15. Monthly revenue trend</vt:lpstr>
      <vt:lpstr>Overall Insights:</vt:lpstr>
      <vt:lpstr>Recommendations:</vt:lpstr>
      <vt:lpstr>Final Evaluation: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Management System</dc:title>
  <dc:creator>hp</dc:creator>
  <cp:lastModifiedBy>hp</cp:lastModifiedBy>
  <cp:revision>21</cp:revision>
  <dcterms:created xsi:type="dcterms:W3CDTF">2026-01-10T10:54:17Z</dcterms:created>
  <dcterms:modified xsi:type="dcterms:W3CDTF">2026-01-11T15:18:23Z</dcterms:modified>
</cp:coreProperties>
</file>